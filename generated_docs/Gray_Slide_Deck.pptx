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Gray Associates Portfolio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Program Evaluation</a:t>
            </a:r>
          </a:p>
          <a:p>
            <a:r>
              <a:t>Fort Lewis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Gray Associates Portfolio Analysis evaluates academic programs by plotting Market Score (student demand 40% + employment 40% + competition 20%) against Program Economics (SCH efficiency + cost structure). Programs are classified as Grow, Sustain, Transform, Evaluate, or Sunset Review. Important: FLC does not have a Gray Associates subscription; scores are proxy estimates based on FLC institutional data, not official Gray output.</a:t>
            </a:r>
          </a:p>
          <a:p>
            <a:pPr/>
            <a:r>
              <a:t>Market Score = Student Demand (40%) + Employment (40%) + Competition (20%)</a:t>
            </a:r>
          </a:p>
          <a:p>
            <a:pPr/>
            <a:r>
              <a:t>Economics Score = SCH generation efficiency + program cost structure</a:t>
            </a:r>
          </a:p>
          <a:p>
            <a:pPr/>
            <a:r>
              <a:t>Data Source: Gray Associates PES methodology applied to FLC institutional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programs classified as Grow</a:t>
            </a:r>
          </a:p>
          <a:p>
            <a:pPr/>
            <a:r>
              <a:t>Business Administration (Market: 74, Econ: 78)</a:t>
            </a:r>
          </a:p>
          <a:p>
            <a:pPr/>
            <a:r>
              <a:t>Psychology (Market: 68, Econ: 72)</a:t>
            </a:r>
          </a:p>
          <a:p>
            <a:pPr/>
            <a:r>
              <a:t>Engineering (Market: 79, Econ: 60)</a:t>
            </a:r>
          </a:p>
          <a:p>
            <a:pPr/>
            <a:r>
              <a:t>Exercise Physiology (Market: 72, Econ: 65)</a:t>
            </a:r>
          </a:p>
          <a:p>
            <a:pPr/>
            <a:r>
              <a:t>Health Sciences (Market: 76, Econ: 62)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programs classified as Sustain</a:t>
            </a:r>
          </a:p>
          <a:p>
            <a:pPr/>
            <a:r>
              <a:t>Environmental Conservation &amp; Mgmt (Market: 68, Econ: 55)</a:t>
            </a:r>
          </a:p>
          <a:p>
            <a:pPr/>
            <a:r>
              <a:t>Criminology &amp; Justice Studies (Market: 65, Econ: 70)</a:t>
            </a:r>
          </a:p>
          <a:p>
            <a:pPr/>
            <a:r>
              <a:t>Environmental Science (Market: 68, Econ: 50)</a:t>
            </a:r>
          </a:p>
          <a:p>
            <a:pPr/>
            <a:r>
              <a:t>Adventure Education (Market: 65, Econ: 45)</a:t>
            </a:r>
          </a:p>
          <a:p>
            <a:pPr/>
            <a:r>
              <a:t>Biology (Market: 57, Econ: 55)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programs classified as Transform</a:t>
            </a:r>
          </a:p>
          <a:p>
            <a:pPr/>
            <a:r>
              <a:t>English (Market: 42, Econ: 80)</a:t>
            </a:r>
          </a:p>
          <a:p>
            <a:pPr/>
            <a:r>
              <a:t>Mathematics (Market: 47, Econ: 82)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programs classified as Evaluate</a:t>
            </a:r>
          </a:p>
          <a:p>
            <a:pPr/>
            <a:r>
              <a:t>Economics (Market: 43, Econ: 60)</a:t>
            </a:r>
          </a:p>
          <a:p>
            <a:pPr/>
            <a:r>
              <a:t>History (Market: 39, Econ: 65)</a:t>
            </a:r>
          </a:p>
          <a:p>
            <a:pPr/>
            <a:r>
              <a:t>Philosophy (Market: 34, Econ: 75)</a:t>
            </a:r>
          </a:p>
          <a:p>
            <a:pPr/>
            <a:r>
              <a:t>Anthropology (Market: 38, Econ: 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Review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programs classified as Sunset Review</a:t>
            </a:r>
          </a:p>
          <a:p>
            <a:pPr/>
            <a:r>
              <a:t>Art &amp; Design (Market: 39, Econ: 40)</a:t>
            </a:r>
          </a:p>
          <a:p>
            <a:pPr/>
            <a:r>
              <a:t>Political Science (Market: 38, Econ: 58)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programs (high market + strong economics): Business Admin, Psychology, Engineering, Health Sciences, CIS, Exercise Physiology, Accounting show strongest investment case.</a:t>
            </a:r>
          </a:p>
          <a:p>
            <a:pPr/>
            <a:r>
              <a:t>SUSTAIN programs (solid market, needs efficiency): Environmental programs, Criminology, Biology, Sociology, Teacher Education maintain enrollment but need optimization.</a:t>
            </a:r>
          </a:p>
          <a:p>
            <a:pPr/>
            <a:r>
              <a:t>TRANSFORM programs (weak market, strong economics): English and Math generate significant SCH as foundational/service courses — low Market Score reflects major enrollment, not institutional value.</a:t>
            </a:r>
          </a:p>
          <a:p>
            <a:pPr/>
            <a:r>
              <a:t>EVALUATE/SUNSET programs: Political Science, Art &amp; Design require strategic review. Note: NAIS is mission-critical and must not be evaluated on enrollment metrics alone.</a:t>
            </a:r>
          </a:p>
          <a:p>
            <a:pPr/>
            <a:r>
              <a:t>Data source disclaimer: FLC does not have a Gray Associates subscription. Scores are proxy estimates based on FLC data, not official Gray Associates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 in Grow programs: capacity, online, graduate tracks</a:t>
            </a:r>
          </a:p>
          <a:p>
            <a:pPr/>
            <a:r>
              <a:t>Improve efficiency of Sustain programs via shared resources</a:t>
            </a:r>
          </a:p>
          <a:p>
            <a:pPr/>
            <a:r>
              <a:t>Innovate delivery for Transform programs (English, Math)</a:t>
            </a:r>
          </a:p>
          <a:p>
            <a:pPr/>
            <a:r>
              <a:t>Deep-dive reviews for Evaluate/Sunset programs with faculty</a:t>
            </a:r>
          </a:p>
          <a:p>
            <a:pPr/>
            <a:r>
              <a:t>Weight mission alignment in final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