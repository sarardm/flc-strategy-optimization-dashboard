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Gray Associates Portfolio Analysis</a:t>
            </a:r>
          </a:p>
        </p:txBody>
      </p:sp>
      <p:sp>
        <p:nvSpPr>
          <p:cNvPr id="3" name="Subtitle 2"/>
          <p:cNvSpPr>
            <a:spLocks noGrp="1"/>
          </p:cNvSpPr>
          <p:nvPr>
            <p:ph type="subTitle" idx="1"/>
          </p:nvPr>
        </p:nvSpPr>
        <p:spPr/>
        <p:txBody>
          <a:bodyPr/>
          <a:lstStyle/>
          <a:p>
            <a:r>
              <a:t>Academic Program Evaluation</a:t>
            </a:r>
          </a:p>
          <a:p>
            <a:r>
              <a:t>Fort Lewis College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Methodology</a:t>
            </a:r>
          </a:p>
        </p:txBody>
      </p:sp>
      <p:sp>
        <p:nvSpPr>
          <p:cNvPr id="3" name="Content Placeholder 2"/>
          <p:cNvSpPr>
            <a:spLocks noGrp="1"/>
          </p:cNvSpPr>
          <p:nvPr>
            <p:ph idx="1"/>
          </p:nvPr>
        </p:nvSpPr>
        <p:spPr/>
        <p:txBody>
          <a:bodyPr/>
          <a:lstStyle/>
          <a:p>
            <a:r>
              <a:t>Gray Associates Portfolio Analysis evaluates academic programs using a data-driven methodology that plots Market Score (student demand, employment outlook, and competitive positioning) against Program Economics (revenue efficiency and contribution margin). This framework classifies programs into actionable categories—Grow, Sustain, Transform, Evaluate, or Sunset Review—to guide investment and restructuring decisions.</a:t>
            </a:r>
          </a:p>
          <a:p>
            <a:pPr/>
            <a:r>
              <a:t>Market Score = Student Demand (40%) + Employment (40%) + Competition (20%)</a:t>
            </a:r>
          </a:p>
          <a:p>
            <a:pPr/>
            <a:r>
              <a:t>Economics Score = SCH generation efficiency + program cost structure</a:t>
            </a:r>
          </a:p>
          <a:p>
            <a:pPr/>
            <a:r>
              <a:t>Data Source: Gray Associates PES methodology applied to FLC institutional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Grow Programs</a:t>
            </a:r>
          </a:p>
        </p:txBody>
      </p:sp>
      <p:sp>
        <p:nvSpPr>
          <p:cNvPr id="3" name="Content Placeholder 2"/>
          <p:cNvSpPr>
            <a:spLocks noGrp="1"/>
          </p:cNvSpPr>
          <p:nvPr>
            <p:ph idx="1"/>
          </p:nvPr>
        </p:nvSpPr>
        <p:spPr/>
        <p:txBody>
          <a:bodyPr/>
          <a:lstStyle/>
          <a:p>
            <a:r>
              <a:t>7 programs classified as Grow</a:t>
            </a:r>
          </a:p>
          <a:p>
            <a:pPr/>
            <a:r>
              <a:t>Business Administration (Market: 74, Econ: 78)</a:t>
            </a:r>
          </a:p>
          <a:p>
            <a:pPr/>
            <a:r>
              <a:t>Psychology (Market: 68, Econ: 72)</a:t>
            </a:r>
          </a:p>
          <a:p>
            <a:pPr/>
            <a:r>
              <a:t>Engineering (Market: 79, Econ: 60)</a:t>
            </a:r>
          </a:p>
          <a:p>
            <a:pPr/>
            <a:r>
              <a:t>Exercise Physiology (Market: 72, Econ: 65)</a:t>
            </a:r>
          </a:p>
          <a:p>
            <a:pPr/>
            <a:r>
              <a:t>Health Sciences (Market: 76, Econ: 62)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Sustain Programs</a:t>
            </a:r>
          </a:p>
        </p:txBody>
      </p:sp>
      <p:sp>
        <p:nvSpPr>
          <p:cNvPr id="3" name="Content Placeholder 2"/>
          <p:cNvSpPr>
            <a:spLocks noGrp="1"/>
          </p:cNvSpPr>
          <p:nvPr>
            <p:ph idx="1"/>
          </p:nvPr>
        </p:nvSpPr>
        <p:spPr/>
        <p:txBody>
          <a:bodyPr/>
          <a:lstStyle/>
          <a:p>
            <a:r>
              <a:t>8 programs classified as Sustain</a:t>
            </a:r>
          </a:p>
          <a:p>
            <a:pPr/>
            <a:r>
              <a:t>Environmental Conservation &amp; Mgmt (Market: 68, Econ: 55)</a:t>
            </a:r>
          </a:p>
          <a:p>
            <a:pPr/>
            <a:r>
              <a:t>Criminology &amp; Justice Studies (Market: 65, Econ: 70)</a:t>
            </a:r>
          </a:p>
          <a:p>
            <a:pPr/>
            <a:r>
              <a:t>Environmental Science (Market: 68, Econ: 50)</a:t>
            </a:r>
          </a:p>
          <a:p>
            <a:pPr/>
            <a:r>
              <a:t>Adventure Education (Market: 65, Econ: 45)</a:t>
            </a:r>
          </a:p>
          <a:p>
            <a:pPr/>
            <a:r>
              <a:t>Biology (Market: 57, Econ: 55)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Transform Programs</a:t>
            </a:r>
          </a:p>
        </p:txBody>
      </p:sp>
      <p:sp>
        <p:nvSpPr>
          <p:cNvPr id="3" name="Content Placeholder 2"/>
          <p:cNvSpPr>
            <a:spLocks noGrp="1"/>
          </p:cNvSpPr>
          <p:nvPr>
            <p:ph idx="1"/>
          </p:nvPr>
        </p:nvSpPr>
        <p:spPr/>
        <p:txBody>
          <a:bodyPr/>
          <a:lstStyle/>
          <a:p>
            <a:r>
              <a:t>2 programs classified as Transform</a:t>
            </a:r>
          </a:p>
          <a:p>
            <a:pPr/>
            <a:r>
              <a:t>English (Market: 42, Econ: 80)</a:t>
            </a:r>
          </a:p>
          <a:p>
            <a:pPr/>
            <a:r>
              <a:t>Mathematics (Market: 47, Econ: 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Evaluate Programs</a:t>
            </a:r>
          </a:p>
        </p:txBody>
      </p:sp>
      <p:sp>
        <p:nvSpPr>
          <p:cNvPr id="3" name="Content Placeholder 2"/>
          <p:cNvSpPr>
            <a:spLocks noGrp="1"/>
          </p:cNvSpPr>
          <p:nvPr>
            <p:ph idx="1"/>
          </p:nvPr>
        </p:nvSpPr>
        <p:spPr/>
        <p:txBody>
          <a:bodyPr/>
          <a:lstStyle/>
          <a:p>
            <a:r>
              <a:t>4 programs classified as Evaluate</a:t>
            </a:r>
          </a:p>
          <a:p>
            <a:pPr/>
            <a:r>
              <a:t>Economics (Market: 43, Econ: 60)</a:t>
            </a:r>
          </a:p>
          <a:p>
            <a:pPr/>
            <a:r>
              <a:t>History (Market: 39, Econ: 65)</a:t>
            </a:r>
          </a:p>
          <a:p>
            <a:pPr/>
            <a:r>
              <a:t>Philosophy (Market: 34, Econ: 75)</a:t>
            </a:r>
          </a:p>
          <a:p>
            <a:pPr/>
            <a:r>
              <a:t>Anthropology (Market: 38, Econ: 50)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Sunset Review Programs</a:t>
            </a:r>
          </a:p>
        </p:txBody>
      </p:sp>
      <p:sp>
        <p:nvSpPr>
          <p:cNvPr id="3" name="Content Placeholder 2"/>
          <p:cNvSpPr>
            <a:spLocks noGrp="1"/>
          </p:cNvSpPr>
          <p:nvPr>
            <p:ph idx="1"/>
          </p:nvPr>
        </p:nvSpPr>
        <p:spPr/>
        <p:txBody>
          <a:bodyPr/>
          <a:lstStyle/>
          <a:p>
            <a:r>
              <a:t>2 programs classified as Sunset Review</a:t>
            </a:r>
          </a:p>
          <a:p>
            <a:pPr/>
            <a:r>
              <a:t>Art &amp; Design (Market: 39, Econ: 40)</a:t>
            </a:r>
          </a:p>
          <a:p>
            <a:pPr/>
            <a:r>
              <a:t>Political Science (Market: 38, Econ: 58)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Findings</a:t>
            </a:r>
          </a:p>
        </p:txBody>
      </p:sp>
      <p:sp>
        <p:nvSpPr>
          <p:cNvPr id="3" name="Content Placeholder 2"/>
          <p:cNvSpPr>
            <a:spLocks noGrp="1"/>
          </p:cNvSpPr>
          <p:nvPr>
            <p:ph idx="1"/>
          </p:nvPr>
        </p:nvSpPr>
        <p:spPr/>
        <p:txBody>
          <a:bodyPr/>
          <a:lstStyle/>
          <a:p>
            <a:r>
              <a:t>GROW programs (high market + strong economics): Business Admin, Psychology, Engineering, Health Sciences, Computer Info Systems, Exercise Physiology, Accounting.</a:t>
            </a:r>
          </a:p>
          <a:p>
            <a:pPr/>
            <a:r>
              <a:t>SUSTAIN programs (solid market, needs efficiency): Environmental programs, Criminology, Biology, Sociology, Teacher Education.</a:t>
            </a:r>
          </a:p>
          <a:p>
            <a:pPr/>
            <a:r>
              <a:t>TRANSFORM programs (weak market, strong economics): English and Mathematics generate revenue but face enrollment pressure - innovate delivery.</a:t>
            </a:r>
          </a:p>
          <a:p>
            <a:pPr/>
            <a:r>
              <a:t>EVALUATE/SUNSET programs (weak market + economics): Political Science, Philosophy, and Art &amp; Design need strategic review for restructuring or phase-out.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Recommendations</a:t>
            </a:r>
          </a:p>
        </p:txBody>
      </p:sp>
      <p:sp>
        <p:nvSpPr>
          <p:cNvPr id="3" name="Content Placeholder 2"/>
          <p:cNvSpPr>
            <a:spLocks noGrp="1"/>
          </p:cNvSpPr>
          <p:nvPr>
            <p:ph idx="1"/>
          </p:nvPr>
        </p:nvSpPr>
        <p:spPr/>
        <p:txBody>
          <a:bodyPr/>
          <a:lstStyle/>
          <a:p>
            <a:r>
              <a:t>Invest in Grow programs: capacity, online, graduate tracks</a:t>
            </a:r>
          </a:p>
          <a:p>
            <a:pPr/>
            <a:r>
              <a:t>Improve efficiency of Sustain programs via shared resources</a:t>
            </a:r>
          </a:p>
          <a:p>
            <a:pPr/>
            <a:r>
              <a:t>Innovate delivery for Transform programs (English, Math)</a:t>
            </a:r>
          </a:p>
          <a:p>
            <a:pPr/>
            <a:r>
              <a:t>Deep-dive reviews for Evaluate/Sunset programs with faculty</a:t>
            </a:r>
          </a:p>
          <a:p>
            <a:pPr/>
            <a:r>
              <a:t>Weight mission alignment in final decisions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