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PESTLE Analysis</a:t>
            </a:r>
          </a:p>
        </p:txBody>
      </p:sp>
      <p:sp>
        <p:nvSpPr>
          <p:cNvPr id="3" name="Subtitle 2"/>
          <p:cNvSpPr>
            <a:spLocks noGrp="1"/>
          </p:cNvSpPr>
          <p:nvPr>
            <p:ph type="subTitle" idx="1"/>
          </p:nvPr>
        </p:nvSpPr>
        <p:spPr/>
        <p:txBody>
          <a:bodyPr/>
          <a:lstStyle/>
          <a:p>
            <a:r>
              <a:t>External Environmental Scan</a:t>
            </a:r>
          </a:p>
          <a:p>
            <a:r>
              <a:t>Fort Lewis College Academic Affairs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a:t>
            </a:r>
          </a:p>
        </p:txBody>
      </p:sp>
      <p:sp>
        <p:nvSpPr>
          <p:cNvPr id="3" name="Content Placeholder 2"/>
          <p:cNvSpPr>
            <a:spLocks noGrp="1"/>
          </p:cNvSpPr>
          <p:nvPr>
            <p:ph idx="1"/>
          </p:nvPr>
        </p:nvSpPr>
        <p:spPr/>
        <p:txBody>
          <a:bodyPr/>
          <a:lstStyle/>
          <a:p>
            <a:r>
              <a:t>PESTLE Analysis examines six categories of external macro-environmental factors that influence Fort Lewis College's strategic positioning: Political, Economic, Social, Technological, Legal, and Environmental. This framework identifies forces beyond the institution's direct control that create both risks and opportunities for Academic Affairs. Each factor is assessed for impact severity and directional trend to prioritize strategic responses.</a:t>
            </a:r>
          </a:p>
          <a:p>
            <a:pPr/>
            <a:r>
              <a:t>Sources: PESTLE_Report_FLC.docx, External Forces Shaping FLC.pptx, Institutional Data</a:t>
            </a:r>
          </a:p>
          <a:p>
            <a:pPr/>
            <a:r>
              <a:t>Six dimensions assessed on 1-5 impact scale with directional trends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Political Factors</a:t>
            </a:r>
          </a:p>
        </p:txBody>
      </p:sp>
      <p:sp>
        <p:nvSpPr>
          <p:cNvPr id="3" name="Content Placeholder 2"/>
          <p:cNvSpPr>
            <a:spLocks noGrp="1"/>
          </p:cNvSpPr>
          <p:nvPr>
            <p:ph idx="1"/>
          </p:nvPr>
        </p:nvSpPr>
        <p:spPr/>
        <p:txBody>
          <a:bodyPr/>
          <a:lstStyle/>
          <a:p>
            <a:r>
              <a:t>Impact: High (5/5) | Trend: Negative</a:t>
            </a:r>
          </a:p>
          <a:p>
            <a:pPr/>
            <a:r>
              <a:t>Trump administration (2025–2029) reducing federal HE funding; 120 TRIO programs terminated</a:t>
            </a:r>
          </a:p>
          <a:p>
            <a:pPr/>
            <a:r>
              <a:t>DEI programs under HIGH scrutiny — executive order targeting DEI in accreditation (Apr 2025)</a:t>
            </a:r>
          </a:p>
          <a:p>
            <a:pPr/>
            <a:r>
              <a:t>Tribal education funding VOLATILE: 109% increase Sept 2025, but FY2026 proposes 24% cuts</a:t>
            </a:r>
          </a:p>
          <a:p>
            <a:pPr/>
            <a:r>
              <a:t>Colorado FY 2025–26: $38.4M increase (far less than $95M requested); 3.5% tuition cap</a:t>
            </a:r>
          </a:p>
          <a:p>
            <a:pPr/>
            <a:r>
              <a:t>Opportunity: Reframe Indigenous programs through statutory obligations (CRS 23-52-105) and cultural preservation (legally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Economic Factors</a:t>
            </a:r>
          </a:p>
        </p:txBody>
      </p:sp>
      <p:sp>
        <p:nvSpPr>
          <p:cNvPr id="3" name="Content Placeholder 2"/>
          <p:cNvSpPr>
            <a:spLocks noGrp="1"/>
          </p:cNvSpPr>
          <p:nvPr>
            <p:ph idx="1"/>
          </p:nvPr>
        </p:nvSpPr>
        <p:spPr/>
        <p:txBody>
          <a:bodyPr/>
          <a:lstStyle/>
          <a:p>
            <a:r>
              <a:t>Impact: High (5/5) | Trend: Negative</a:t>
            </a:r>
          </a:p>
          <a:p>
            <a:pPr/>
            <a:r>
              <a:t>Colorado shifts costs to students via tuition rather than state appropriations</a:t>
            </a:r>
          </a:p>
          <a:p>
            <a:pPr/>
            <a:r>
              <a:t>Rising tuition sensitivity; students increasingly price-conscious and comparison-shopping</a:t>
            </a:r>
          </a:p>
          <a:p>
            <a:pPr/>
            <a:r>
              <a:t>Durango housing crisis — major hidden barrier for student attendance AND faculty recruitment</a:t>
            </a:r>
          </a:p>
          <a:p>
            <a:pPr/>
            <a:r>
              <a:t>Native American tuition waiver revenue impact (~37% of students at zero tuition)</a:t>
            </a:r>
          </a:p>
          <a:p>
            <a:pPr/>
            <a:r>
              <a:t>Opportunity: Healthcare/nursing programs (strong regional employer demand)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Social Factors</a:t>
            </a:r>
          </a:p>
        </p:txBody>
      </p:sp>
      <p:sp>
        <p:nvSpPr>
          <p:cNvPr id="3" name="Content Placeholder 2"/>
          <p:cNvSpPr>
            <a:spLocks noGrp="1"/>
          </p:cNvSpPr>
          <p:nvPr>
            <p:ph idx="1"/>
          </p:nvPr>
        </p:nvSpPr>
        <p:spPr/>
        <p:txBody>
          <a:bodyPr/>
          <a:lstStyle/>
          <a:p>
            <a:r>
              <a:t>Impact: Medium-High (4/5) | Trend: Mixed</a:t>
            </a:r>
          </a:p>
          <a:p>
            <a:pPr/>
            <a:r>
              <a:t>Declining college-going rates nationally and in Colorado</a:t>
            </a:r>
          </a:p>
          <a:p>
            <a:pPr/>
            <a:r>
              <a:t>Career outcome expectations dominant ('What job will I get?')</a:t>
            </a:r>
          </a:p>
          <a:p>
            <a:pPr/>
            <a:r>
              <a:t>Indigenous education opportunity IS REAL (166 tribes, 37% waiver, underserved nationally)</a:t>
            </a:r>
          </a:p>
          <a:p>
            <a:pPr/>
            <a:r>
              <a:t>First-generation students (43%) need targeted support systems</a:t>
            </a:r>
          </a:p>
          <a:p>
            <a:pPr/>
            <a:r>
              <a:t>Opportunity: Indigenous education leadership — reframe through statutory obligations (CRS 23-52-105), not DEI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Technological Factors</a:t>
            </a:r>
          </a:p>
        </p:txBody>
      </p:sp>
      <p:sp>
        <p:nvSpPr>
          <p:cNvPr id="3" name="Content Placeholder 2"/>
          <p:cNvSpPr>
            <a:spLocks noGrp="1"/>
          </p:cNvSpPr>
          <p:nvPr>
            <p:ph idx="1"/>
          </p:nvPr>
        </p:nvSpPr>
        <p:spPr/>
        <p:txBody>
          <a:bodyPr/>
          <a:lstStyle/>
          <a:p>
            <a:r>
              <a:t>Impact: High (4/5) | Trend: Rapidly Changing</a:t>
            </a:r>
          </a:p>
          <a:p>
            <a:pPr/>
            <a:r>
              <a:t>AI disruption transforming pedagogy, assessment, and student expectations</a:t>
            </a:r>
          </a:p>
          <a:p>
            <a:pPr/>
            <a:r>
              <a:t>Online graduate market SATURATED — ASU, SNHU, Western Governors dominate ($50M+ marketing)</a:t>
            </a:r>
          </a:p>
          <a:p>
            <a:pPr/>
            <a:r>
              <a:t>FLC has NO online brand nationally; ~25 online courses (~10% of offerings)</a:t>
            </a:r>
          </a:p>
          <a:p>
            <a:pPr/>
            <a:r>
              <a:t>Passive video lectures becoming obsolete; AI-enabled adaptive learning replacing them</a:t>
            </a:r>
          </a:p>
          <a:p>
            <a:pPr/>
            <a:r>
              <a:t>Opportunity: AI Institute partnerships and curriculum integration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Factors</a:t>
            </a:r>
          </a:p>
        </p:txBody>
      </p:sp>
      <p:sp>
        <p:nvSpPr>
          <p:cNvPr id="3" name="Content Placeholder 2"/>
          <p:cNvSpPr>
            <a:spLocks noGrp="1"/>
          </p:cNvSpPr>
          <p:nvPr>
            <p:ph idx="1"/>
          </p:nvPr>
        </p:nvSpPr>
        <p:spPr/>
        <p:txBody>
          <a:bodyPr/>
          <a:lstStyle/>
          <a:p>
            <a:r>
              <a:t>Impact: High (4/5) | Trend: Deteriorating</a:t>
            </a:r>
          </a:p>
          <a:p>
            <a:pPr/>
            <a:r>
              <a:t>Title VI scrutiny — 50+ universities under investigation for race-conscious programs</a:t>
            </a:r>
          </a:p>
          <a:p>
            <a:pPr/>
            <a:r>
              <a:t>Native American Tuition Waiver has DISTINCT legal basis (CRS 23-52-105, since 1911)</a:t>
            </a:r>
          </a:p>
          <a:p>
            <a:pPr/>
            <a:r>
              <a:t>HLC accreditation: federal pressure on DEI standards, but HLC offers flexibility</a:t>
            </a:r>
          </a:p>
          <a:p>
            <a:pPr/>
            <a:r>
              <a:t>Trump administration revising Title IX regulations (definitions, due process in flux)</a:t>
            </a:r>
          </a:p>
          <a:p>
            <a:pPr/>
            <a:r>
              <a:t>Opportunity: NATW defensible under Title VI (statutory basis per CRS 23-52-105, not voluntary DEI)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Factors</a:t>
            </a:r>
          </a:p>
        </p:txBody>
      </p:sp>
      <p:sp>
        <p:nvSpPr>
          <p:cNvPr id="3" name="Content Placeholder 2"/>
          <p:cNvSpPr>
            <a:spLocks noGrp="1"/>
          </p:cNvSpPr>
          <p:nvPr>
            <p:ph idx="1"/>
          </p:nvPr>
        </p:nvSpPr>
        <p:spPr/>
        <p:txBody>
          <a:bodyPr/>
          <a:lstStyle/>
          <a:p>
            <a:r>
              <a:t>Impact: Medium (3/5) | Trend: Negative</a:t>
            </a:r>
          </a:p>
          <a:p>
            <a:pPr/>
            <a:r>
              <a:t>Southwest Colorado wildfire risk increasing — smoke impacts air quality and outdoor activities</a:t>
            </a:r>
          </a:p>
          <a:p>
            <a:pPr/>
            <a:r>
              <a:t>Colorado River basin under long-term drought stress; water rights contentious</a:t>
            </a:r>
          </a:p>
          <a:p>
            <a:pPr/>
            <a:r>
              <a:t>Snowpack variability affects regional economy (ski, rafting, outdoor recreation)</a:t>
            </a:r>
          </a:p>
          <a:p>
            <a:pPr/>
            <a:r>
              <a:t>Outdoor recreation brand is FLC strength but CLIMATE-VULNERABLE</a:t>
            </a:r>
          </a:p>
          <a:p>
            <a:pPr/>
            <a:r>
              <a:t>Opportunity: Proactive sustainability initiatives to build brand beyond compliance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Impact Assessment Summary</a:t>
            </a:r>
          </a:p>
        </p:txBody>
      </p:sp>
      <p:sp>
        <p:nvSpPr>
          <p:cNvPr id="3" name="Content Placeholder 2"/>
          <p:cNvSpPr>
            <a:spLocks noGrp="1"/>
          </p:cNvSpPr>
          <p:nvPr>
            <p:ph idx="1"/>
          </p:nvPr>
        </p:nvSpPr>
        <p:spPr/>
        <p:txBody>
          <a:bodyPr/>
          <a:lstStyle/>
          <a:p>
            <a:r>
              <a:t>Highest impact: Political (5/5), Economic (5/5)</a:t>
            </a:r>
          </a:p>
          <a:p>
            <a:pPr/>
            <a:r>
              <a:t>High impact: Social (4/5), Technological (4/5), Legal (4/5)</a:t>
            </a:r>
          </a:p>
          <a:p>
            <a:pPr/>
            <a:r>
              <a:t>Key risks: Federal DEI policy, tribal waiver vulnerability, Durango housing crisis</a:t>
            </a:r>
          </a:p>
          <a:p>
            <a:pPr/>
            <a:r>
              <a:t>Key opportunity: Indigenous education (statutorily grounded), AI Institute, experiential learning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Recommendations</a:t>
            </a:r>
          </a:p>
        </p:txBody>
      </p:sp>
      <p:sp>
        <p:nvSpPr>
          <p:cNvPr id="3" name="Content Placeholder 2"/>
          <p:cNvSpPr>
            <a:spLocks noGrp="1"/>
          </p:cNvSpPr>
          <p:nvPr>
            <p:ph idx="1"/>
          </p:nvPr>
        </p:nvSpPr>
        <p:spPr/>
        <p:txBody>
          <a:bodyPr/>
          <a:lstStyle/>
          <a:p>
            <a:r>
              <a:t>Protect NATW statutory basis (CRS 23-52-105) from DEI misclassification</a:t>
            </a:r>
          </a:p>
          <a:p>
            <a:pPr/>
            <a:r>
              <a:t>Prioritize retention as most cost-effective enrollment strategy</a:t>
            </a:r>
          </a:p>
          <a:p>
            <a:pPr/>
            <a:r>
              <a:t>Frame Indigenous education through statutory/sovereign obligations, not DEI language</a:t>
            </a:r>
          </a:p>
          <a:p>
            <a:pPr/>
            <a:r>
              <a:t>Invest in AI Institute and place-based experiential learning</a:t>
            </a:r>
          </a:p>
          <a:p>
            <a:pPr/>
            <a:r>
              <a:t>Qualify online expansion: Indigenous niche only (NATW moat), not generic degrees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