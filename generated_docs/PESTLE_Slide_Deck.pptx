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PESTLE Analysis</a:t>
            </a:r>
          </a:p>
        </p:txBody>
      </p:sp>
      <p:sp>
        <p:nvSpPr>
          <p:cNvPr id="3" name="Subtitle 2"/>
          <p:cNvSpPr>
            <a:spLocks noGrp="1"/>
          </p:cNvSpPr>
          <p:nvPr>
            <p:ph type="subTitle" idx="1"/>
          </p:nvPr>
        </p:nvSpPr>
        <p:spPr/>
        <p:txBody>
          <a:bodyPr/>
          <a:lstStyle/>
          <a:p>
            <a:r>
              <a:t>External Environmental Scan</a:t>
            </a:r>
          </a:p>
          <a:p>
            <a:r>
              <a:t>Fort Lewis College Academic Affairs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r>
              <a:t>PESTLE Analysis examines six categories of external macro-environmental factors that influence Fort Lewis College's strategic positioning: Political, Economic, Social, Technological, Legal, and Environmental. This framework identifies forces beyond the institution's direct control that create both risks and opportunities for Academic Affairs. Each factor is assessed for impact severity and directional trend to prioritize strategic responses.</a:t>
            </a:r>
          </a:p>
          <a:p>
            <a:pPr/>
            <a:r>
              <a:t>Sources: PESTLE_Report_FLC.docx, External Forces Shaping FLC.pptx, Institutional Data</a:t>
            </a:r>
          </a:p>
          <a:p>
            <a:pPr/>
            <a:r>
              <a:t>Six dimensions assessed on 1-5 impact scale with directional trends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Political Factors</a:t>
            </a:r>
          </a:p>
        </p:txBody>
      </p:sp>
      <p:sp>
        <p:nvSpPr>
          <p:cNvPr id="3" name="Content Placeholder 2"/>
          <p:cNvSpPr>
            <a:spLocks noGrp="1"/>
          </p:cNvSpPr>
          <p:nvPr>
            <p:ph idx="1"/>
          </p:nvPr>
        </p:nvSpPr>
        <p:spPr/>
        <p:txBody>
          <a:bodyPr/>
          <a:lstStyle/>
          <a:p>
            <a:r>
              <a:t>Impact: High (4/5) | Trend: Negative</a:t>
            </a:r>
          </a:p>
          <a:p>
            <a:pPr/>
            <a:r>
              <a:t>Colorado state funding volatility for higher education</a:t>
            </a:r>
          </a:p>
          <a:p>
            <a:pPr/>
            <a:r>
              <a:t>Federal financial aid policy changes (Pell Grant, Title IV)</a:t>
            </a:r>
          </a:p>
          <a:p>
            <a:pPr/>
            <a:r>
              <a:t>Native American tuition waiver mandate (federal obligation)</a:t>
            </a:r>
          </a:p>
          <a:p>
            <a:pPr/>
            <a:r>
              <a:t>State performance-based funding models</a:t>
            </a:r>
          </a:p>
          <a:p>
            <a:pPr/>
            <a:r>
              <a:t>Opportunity: Leverage federal tribal education funding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Economic Factors</a:t>
            </a:r>
          </a:p>
        </p:txBody>
      </p:sp>
      <p:sp>
        <p:nvSpPr>
          <p:cNvPr id="3" name="Content Placeholder 2"/>
          <p:cNvSpPr>
            <a:spLocks noGrp="1"/>
          </p:cNvSpPr>
          <p:nvPr>
            <p:ph idx="1"/>
          </p:nvPr>
        </p:nvSpPr>
        <p:spPr/>
        <p:txBody>
          <a:bodyPr/>
          <a:lstStyle/>
          <a:p>
            <a:r>
              <a:t>Impact: High (5/5) | Trend: Mixed</a:t>
            </a:r>
          </a:p>
          <a:p>
            <a:pPr/>
            <a:r>
              <a:t>Declining state appropriations per student</a:t>
            </a:r>
          </a:p>
          <a:p>
            <a:pPr/>
            <a:r>
              <a:t>Rising tuition sensitivity among families</a:t>
            </a:r>
          </a:p>
          <a:p>
            <a:pPr/>
            <a:r>
              <a:t>Durango cost of living affecting faculty recruitment</a:t>
            </a:r>
          </a:p>
          <a:p>
            <a:pPr/>
            <a:r>
              <a:t>Native American tuition waiver revenue impact (~37% of students)</a:t>
            </a:r>
          </a:p>
          <a:p>
            <a:pPr/>
            <a:r>
              <a:t>Opportunity: Grow graduate programs for additional revenue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Social Factors</a:t>
            </a:r>
          </a:p>
        </p:txBody>
      </p:sp>
      <p:sp>
        <p:nvSpPr>
          <p:cNvPr id="3" name="Content Placeholder 2"/>
          <p:cNvSpPr>
            <a:spLocks noGrp="1"/>
          </p:cNvSpPr>
          <p:nvPr>
            <p:ph idx="1"/>
          </p:nvPr>
        </p:nvSpPr>
        <p:spPr/>
        <p:txBody>
          <a:bodyPr/>
          <a:lstStyle/>
          <a:p>
            <a:r>
              <a:t>Impact: High (4/5) | Trend: Mixed</a:t>
            </a:r>
          </a:p>
          <a:p>
            <a:pPr/>
            <a:r>
              <a:t>Declining college-going rates nationally</a:t>
            </a:r>
          </a:p>
          <a:p>
            <a:pPr/>
            <a:r>
              <a:t>Changing student expectations (career-focused outcomes)</a:t>
            </a:r>
          </a:p>
          <a:p>
            <a:pPr/>
            <a:r>
              <a:t>Growing demand for flexible/hybrid learning</a:t>
            </a:r>
          </a:p>
          <a:p>
            <a:pPr/>
            <a:r>
              <a:t>FLC unique mission serving Native American students (166 tribes)</a:t>
            </a:r>
          </a:p>
          <a:p>
            <a:pPr/>
            <a:r>
              <a:t>Opportunity: Outdoor recreation lifestyle as recruitment differentiator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Technological Factors</a:t>
            </a:r>
          </a:p>
        </p:txBody>
      </p:sp>
      <p:sp>
        <p:nvSpPr>
          <p:cNvPr id="3" name="Content Placeholder 2"/>
          <p:cNvSpPr>
            <a:spLocks noGrp="1"/>
          </p:cNvSpPr>
          <p:nvPr>
            <p:ph idx="1"/>
          </p:nvPr>
        </p:nvSpPr>
        <p:spPr/>
        <p:txBody>
          <a:bodyPr/>
          <a:lstStyle/>
          <a:p>
            <a:r>
              <a:t>Impact: Medium (3/5) | Trend: Opportunity</a:t>
            </a:r>
          </a:p>
          <a:p>
            <a:pPr/>
            <a:r>
              <a:t>AI disruption in curriculum and pedagogy</a:t>
            </a:r>
          </a:p>
          <a:p>
            <a:pPr/>
            <a:r>
              <a:t>Need for technology infrastructure upgrades</a:t>
            </a:r>
          </a:p>
          <a:p>
            <a:pPr/>
            <a:r>
              <a:t>Online/hybrid program delivery expectations</a:t>
            </a:r>
          </a:p>
          <a:p>
            <a:pPr/>
            <a:r>
              <a:t>Data analytics for student success and retention</a:t>
            </a:r>
          </a:p>
          <a:p>
            <a:pPr/>
            <a:r>
              <a:t>Opportunity: AI Institute partnerships and growth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Legal Factors</a:t>
            </a:r>
          </a:p>
        </p:txBody>
      </p:sp>
      <p:sp>
        <p:nvSpPr>
          <p:cNvPr id="3" name="Content Placeholder 2"/>
          <p:cNvSpPr>
            <a:spLocks noGrp="1"/>
          </p:cNvSpPr>
          <p:nvPr>
            <p:ph idx="1"/>
          </p:nvPr>
        </p:nvSpPr>
        <p:spPr/>
        <p:txBody>
          <a:bodyPr/>
          <a:lstStyle/>
          <a:p>
            <a:r>
              <a:t>Impact: Medium (3/5) | Trend: Stable</a:t>
            </a:r>
          </a:p>
          <a:p>
            <a:pPr/>
            <a:r>
              <a:t>Accreditation compliance requirements (HLC)</a:t>
            </a:r>
          </a:p>
          <a:p>
            <a:pPr/>
            <a:r>
              <a:t>Title IX and student safety regulations</a:t>
            </a:r>
          </a:p>
          <a:p>
            <a:pPr/>
            <a:r>
              <a:t>Federal reporting mandates (IPEDS)</a:t>
            </a:r>
          </a:p>
          <a:p>
            <a:pPr/>
            <a:r>
              <a:t>Employment law for faculty/staff</a:t>
            </a:r>
          </a:p>
          <a:p>
            <a:pPr/>
            <a:r>
              <a:t>Opportunity: Streamlined accreditation through proactive compliance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Environmental Factors</a:t>
            </a:r>
          </a:p>
        </p:txBody>
      </p:sp>
      <p:sp>
        <p:nvSpPr>
          <p:cNvPr id="3" name="Content Placeholder 2"/>
          <p:cNvSpPr>
            <a:spLocks noGrp="1"/>
          </p:cNvSpPr>
          <p:nvPr>
            <p:ph idx="1"/>
          </p:nvPr>
        </p:nvSpPr>
        <p:spPr/>
        <p:txBody>
          <a:bodyPr/>
          <a:lstStyle/>
          <a:p>
            <a:r>
              <a:t>Impact: Medium (3/5) | Trend: Opportunity</a:t>
            </a:r>
          </a:p>
          <a:p>
            <a:pPr/>
            <a:r>
              <a:t>Climate change impacts on Durango/mountain region</a:t>
            </a:r>
          </a:p>
          <a:p>
            <a:pPr/>
            <a:r>
              <a:t>Campus sustainability expectations from students</a:t>
            </a:r>
          </a:p>
          <a:p>
            <a:pPr/>
            <a:r>
              <a:t>Environmental science as program strength</a:t>
            </a:r>
          </a:p>
          <a:p>
            <a:pPr/>
            <a:r>
              <a:t>Outdoor recreation economy dependency on climate</a:t>
            </a:r>
          </a:p>
          <a:p>
            <a:pPr/>
            <a:r>
              <a:t>Opportunity: Position as leader in sustainability education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Impact Assessment Summary</a:t>
            </a:r>
          </a:p>
        </p:txBody>
      </p:sp>
      <p:sp>
        <p:nvSpPr>
          <p:cNvPr id="3" name="Content Placeholder 2"/>
          <p:cNvSpPr>
            <a:spLocks noGrp="1"/>
          </p:cNvSpPr>
          <p:nvPr>
            <p:ph idx="1"/>
          </p:nvPr>
        </p:nvSpPr>
        <p:spPr/>
        <p:txBody>
          <a:bodyPr/>
          <a:lstStyle/>
          <a:p>
            <a:r>
              <a:t>Highest impact: Economic (5/5), Political &amp; Social (4/5 each)</a:t>
            </a:r>
          </a:p>
          <a:p>
            <a:pPr/>
            <a:r>
              <a:t>Medium impact: Technological, Legal, Environmental (3/5 each)</a:t>
            </a:r>
          </a:p>
          <a:p>
            <a:pPr/>
            <a:r>
              <a:t>Key risk: State funding volatility and tuition waiver revenue impact</a:t>
            </a:r>
          </a:p>
          <a:p>
            <a:pPr/>
            <a:r>
              <a:t>Key opportunity: AI Institute, sustainability leadership, Indigenous education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Recommendations</a:t>
            </a:r>
          </a:p>
        </p:txBody>
      </p:sp>
      <p:sp>
        <p:nvSpPr>
          <p:cNvPr id="3" name="Content Placeholder 2"/>
          <p:cNvSpPr>
            <a:spLocks noGrp="1"/>
          </p:cNvSpPr>
          <p:nvPr>
            <p:ph idx="1"/>
          </p:nvPr>
        </p:nvSpPr>
        <p:spPr/>
        <p:txBody>
          <a:bodyPr/>
          <a:lstStyle/>
          <a:p>
            <a:r>
              <a:t>Diversify revenue through graduate programs and online offerings</a:t>
            </a:r>
          </a:p>
          <a:p>
            <a:pPr/>
            <a:r>
              <a:t>Strengthen advocacy while reducing state funding dependency</a:t>
            </a:r>
          </a:p>
          <a:p>
            <a:pPr/>
            <a:r>
              <a:t>Position Indigenous mission as national leadership opportunity</a:t>
            </a:r>
          </a:p>
          <a:p>
            <a:pPr/>
            <a:r>
              <a:t>Invest in AI Institute and sustainability as differentiators</a:t>
            </a:r>
          </a:p>
          <a:p>
            <a:pPr/>
            <a:r>
              <a:t>Build data-driven retention programs for equity gap closure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