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FLC Portfolio Optimization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Summary</a:t>
            </a:r>
          </a:p>
          <a:p>
            <a:r>
              <a:t>Fort Lewis College Academic Affairs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At-A-Glance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Enrollment: 3,457 students (Fall 2025)</a:t>
            </a:r>
          </a:p>
          <a:p>
            <a:pPr/>
            <a:r>
              <a:t>Retention: 66.1% FTFT (Fall 2024)</a:t>
            </a:r>
          </a:p>
          <a:p>
            <a:pPr/>
            <a:r>
              <a:t>Graduate Students: 160 (1 existing program, Fall 2025)</a:t>
            </a:r>
          </a:p>
          <a:p>
            <a:pPr/>
            <a:r>
              <a:t>BCG: 22 departments (SCH-based) + 48 majors (enrollment-based); Gray: 23 programs</a:t>
            </a:r>
          </a:p>
          <a:p>
            <a:pPr/>
            <a:r>
              <a:t>3-Phase Methodology: Environmental Scanning → SWOT Synthesis → Zone to Win Scenarios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1: Environmental Scanning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PESTLE: Top impacts — Political (5/5), Economic (5/5), Social (4/5)</a:t>
            </a:r>
          </a:p>
          <a:p>
            <a:pPr/>
            <a:r>
              <a:t>Porter's: Overall competitive intensity 3.4/5 (HIGH)</a:t>
            </a:r>
          </a:p>
          <a:p>
            <a:pPr/>
            <a:r>
              <a:t>BCG: Depts — 2 Stars, 9 Cash Cows, 9 Concerns; Majors — 15 Stars, 17 Concerns</a:t>
            </a:r>
          </a:p>
          <a:p>
            <a:pPr/>
            <a:r>
              <a:t>Gray: 7 Grow, 8 Sustain, 2 Transform, 4 Evaluate, 2 Sunset Review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2: SWOT Synthesis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Strengths: Statutory Native American Mission | Strong Star Programs (Major-Level BCG)</a:t>
            </a:r>
          </a:p>
          <a:p>
            <a:pPr/>
            <a:r>
              <a:t>Weaknesses: Declining Undergraduate Enrollment | 17 Concern-Quadrant Majors</a:t>
            </a:r>
          </a:p>
          <a:p>
            <a:pPr/>
            <a:r>
              <a:t>Opportunities: Invest in Star Programs | Indigenous Education Leadership (Statutorily Grounded)</a:t>
            </a:r>
          </a:p>
          <a:p>
            <a:pPr/>
            <a:r>
              <a:t>Threats: DEI &amp; Federal Scrutiny of Public Higher Ed | Tribal Education Funding Volatility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3: Zone to Win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Zone: 6 initiatives — Business Administration, Exercise Physiology</a:t>
            </a:r>
          </a:p>
          <a:p>
            <a:pPr/>
            <a:r>
              <a:t>Productivity Zone: 6 initiatives — Retention Programs, Advising System Overhaul</a:t>
            </a:r>
          </a:p>
          <a:p>
            <a:pPr/>
            <a:r>
              <a:t>Incubation Zone: 5 initiatives — AI Institute Expansion, Dual Enrollment Expansion</a:t>
            </a:r>
          </a:p>
          <a:p>
            <a:pPr/>
            <a:r>
              <a:t>Transformation Zone: 4 initiatives — Indigenous Education Hub, Experiential Learning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 Strategic Scenarios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Incremental: Enrollment 3,450, Retention 68.0%, 0 new programs</a:t>
            </a:r>
          </a:p>
          <a:p>
            <a:pPr/>
            <a:r>
              <a:t>Moderate-Adaptive: Enrollment 3,550, Retention 70.0%, 1 new programs</a:t>
            </a:r>
          </a:p>
          <a:p>
            <a:pPr/>
            <a:r>
              <a:t>Disruptive: Enrollment 3,700, Retention 72.0%, 3 new programs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Invest in Star majors: Business Admin, Exercise Physiology, Psychology, Engineering</a:t>
            </a:r>
          </a:p>
          <a:p>
            <a:pPr/>
            <a:r>
              <a:t>Initiate structured review of 17 Concern-quadrant majors (protect NAIS regardless)</a:t>
            </a:r>
          </a:p>
          <a:p>
            <a:pPr/>
            <a:r>
              <a:t>Prioritize retention as most cost-effective enrollment strategy (Compass, advising, early-alert)</a:t>
            </a:r>
          </a:p>
          <a:p>
            <a:pPr/>
            <a:r>
              <a:t>Pursue Indigenous online niche (statutorily grounded, NATW moat) — not generic online degrees</a:t>
            </a:r>
          </a:p>
          <a:p>
            <a:pPr/>
            <a:r>
              <a:t>Strengthen dual enrollment (3+ schools) and transfer pipelines</a:t>
            </a:r>
          </a:p>
          <a:p>
            <a:pPr/>
            <a:r>
              <a:t>Address Durango housing barrier to faculty/staff recruitment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