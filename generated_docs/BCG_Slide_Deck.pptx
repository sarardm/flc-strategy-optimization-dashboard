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BCG Growth-Share Matrix</a:t>
            </a:r>
          </a:p>
        </p:txBody>
      </p:sp>
      <p:sp>
        <p:nvSpPr>
          <p:cNvPr id="3" name="Subtitle 2"/>
          <p:cNvSpPr>
            <a:spLocks noGrp="1"/>
          </p:cNvSpPr>
          <p:nvPr>
            <p:ph type="subTitle" idx="1"/>
          </p:nvPr>
        </p:nvSpPr>
        <p:spPr/>
        <p:txBody>
          <a:bodyPr/>
          <a:lstStyle/>
          <a:p>
            <a:r>
              <a:t>Department &amp; Major-Level Portfolio Analysis</a:t>
            </a:r>
          </a:p>
          <a:p>
            <a:r>
              <a:t>Fort Lewis College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a:t>
            </a:r>
          </a:p>
        </p:txBody>
      </p:sp>
      <p:sp>
        <p:nvSpPr>
          <p:cNvPr id="3" name="Content Placeholder 2"/>
          <p:cNvSpPr>
            <a:spLocks noGrp="1"/>
          </p:cNvSpPr>
          <p:nvPr>
            <p:ph idx="1"/>
          </p:nvPr>
        </p:nvSpPr>
        <p:spPr/>
        <p:txBody>
          <a:bodyPr/>
          <a:lstStyle/>
          <a:p>
            <a:r>
              <a:t>The BCG Growth-Share Matrix, adapted from the Boston Consulting Group framework, analyzes FLC's academic portfolio at two levels. The department-level view maps 22 departments by SCH share (% of total Student Credit Hours) vs. 2-year enrollment change, identifying which departments generate institutional revenue. The major-level view maps 48 individual majors by 2024 enrollment headcount vs. 2022–2024 percentage change, with bubble size representing absolute enrollment change. Programs with fewer than 20 students in 2022 are flagged as ‘small base’ since their percentage changes can be misleading.</a:t>
            </a:r>
          </a:p>
          <a:p>
            <a:pPr/>
            <a:r>
              <a:t>Department view: X = % of Total SCH, Y = 2-Year Change % (22 departments)</a:t>
            </a:r>
          </a:p>
          <a:p>
            <a:pPr/>
            <a:r>
              <a:t>Major view: X = 2024 Enrollment, Y = % Change 2022–2024 (48 majors)</a:t>
            </a:r>
          </a:p>
          <a:p>
            <a:pPr/>
            <a:r>
              <a:t>Bubble size (major view): Absolute enrollment change (students gained/lost)</a:t>
            </a:r>
          </a:p>
          <a:p>
            <a:pPr/>
            <a:r>
              <a:t>Small-base flag: Programs with &lt; 20 students in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Department-Level BCG (SCH-Based)</a:t>
            </a:r>
          </a:p>
        </p:txBody>
      </p:sp>
      <p:sp>
        <p:nvSpPr>
          <p:cNvPr id="3" name="Content Placeholder 2"/>
          <p:cNvSpPr>
            <a:spLocks noGrp="1"/>
          </p:cNvSpPr>
          <p:nvPr>
            <p:ph idx="1"/>
          </p:nvPr>
        </p:nvSpPr>
        <p:spPr/>
        <p:txBody>
          <a:bodyPr/>
          <a:lstStyle/>
          <a:p>
            <a:r>
              <a:t>Stars: 2 departments (Business Admin, Psychology)</a:t>
            </a:r>
          </a:p>
          <a:p>
            <a:pPr/>
            <a:r>
              <a:t>Cash Cows: 9 departments (English, Math, Biology, HHP, Sociology, etc.)</a:t>
            </a:r>
          </a:p>
          <a:p>
            <a:pPr/>
            <a:r>
              <a:t>Question Marks: 2 departments (Accounting, History)</a:t>
            </a:r>
          </a:p>
          <a:p>
            <a:pPr/>
            <a:r>
              <a:t>Concerns: 9 departments (Political Science, Economics, Art &amp; Design, etc.)</a:t>
            </a:r>
          </a:p>
          <a:p>
            <a:pPr/>
            <a:r>
              <a:t>Cash Cows generate bulk of institutional SCH but all show 2-year declines</a:t>
            </a:r>
          </a:p>
          <a:p>
            <a:pPr/>
            <a:r>
              <a:t>Source: BCG Presentation.pptx (FLC Internal)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Stars — Large &amp; Growing</a:t>
            </a:r>
          </a:p>
        </p:txBody>
      </p:sp>
      <p:sp>
        <p:nvSpPr>
          <p:cNvPr id="3" name="Content Placeholder 2"/>
          <p:cNvSpPr>
            <a:spLocks noGrp="1"/>
          </p:cNvSpPr>
          <p:nvPr>
            <p:ph idx="1"/>
          </p:nvPr>
        </p:nvSpPr>
        <p:spPr/>
        <p:txBody>
          <a:bodyPr/>
          <a:lstStyle/>
          <a:p>
            <a:r>
              <a:t>15 majors in this quadrant</a:t>
            </a:r>
          </a:p>
          <a:p>
            <a:pPr/>
            <a:r>
              <a:t>Business Administration: 325 enrolled, +10.2% (+30)</a:t>
            </a:r>
          </a:p>
          <a:p>
            <a:pPr/>
            <a:r>
              <a:t>Engineering: 204 enrolled, +4.1% (+8)</a:t>
            </a:r>
          </a:p>
          <a:p>
            <a:pPr/>
            <a:r>
              <a:t>Exercise Physiology: 160 enrolled, +16.8% (+23)</a:t>
            </a:r>
          </a:p>
          <a:p>
            <a:pPr/>
            <a:r>
              <a:t>Environmental Conservation and Management: 133 enrolled, +62.2% (+51)</a:t>
            </a:r>
          </a:p>
          <a:p>
            <a:pPr/>
            <a:r>
              <a:t>Criminology &amp; Justice Studies: 103 enrolled, +2.0% (+2)</a:t>
            </a:r>
          </a:p>
          <a:p>
            <a:pPr/>
            <a:r>
              <a:t>Health Sciences: 86 enrolled, +68.6%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Cows — Large &amp; Declining</a:t>
            </a:r>
          </a:p>
        </p:txBody>
      </p:sp>
      <p:sp>
        <p:nvSpPr>
          <p:cNvPr id="3" name="Content Placeholder 2"/>
          <p:cNvSpPr>
            <a:spLocks noGrp="1"/>
          </p:cNvSpPr>
          <p:nvPr>
            <p:ph idx="1"/>
          </p:nvPr>
        </p:nvSpPr>
        <p:spPr/>
        <p:txBody>
          <a:bodyPr/>
          <a:lstStyle/>
          <a:p>
            <a:r>
              <a:t>9 majors in this quadrant</a:t>
            </a:r>
          </a:p>
          <a:p>
            <a:pPr/>
            <a:r>
              <a:t>Psychology: 224 enrolled, -17.6% (-48)</a:t>
            </a:r>
          </a:p>
          <a:p>
            <a:pPr/>
            <a:r>
              <a:t>Biology/Cellular &amp; Molecular Biology: 111 enrolled, -42.5% (-82)</a:t>
            </a:r>
          </a:p>
          <a:p>
            <a:pPr/>
            <a:r>
              <a:t>Pre-Major Accounting: 102 enrolled, -31.5% (-47)</a:t>
            </a:r>
          </a:p>
          <a:p>
            <a:pPr/>
            <a:r>
              <a:t>Environmental Science: 86 enrolled, -14.0% (-14)</a:t>
            </a:r>
          </a:p>
          <a:p>
            <a:pPr/>
            <a:r>
              <a:t>Sociology and Human Services: 65 enrolled, +0.0% (+0)</a:t>
            </a:r>
          </a:p>
          <a:p>
            <a:pPr/>
            <a:r>
              <a:t>Accounting: 60 enrolled, -4.8%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 Marks — Small &amp; Growing</a:t>
            </a:r>
          </a:p>
        </p:txBody>
      </p:sp>
      <p:sp>
        <p:nvSpPr>
          <p:cNvPr id="3" name="Content Placeholder 2"/>
          <p:cNvSpPr>
            <a:spLocks noGrp="1"/>
          </p:cNvSpPr>
          <p:nvPr>
            <p:ph idx="1"/>
          </p:nvPr>
        </p:nvSpPr>
        <p:spPr/>
        <p:txBody>
          <a:bodyPr/>
          <a:lstStyle/>
          <a:p>
            <a:r>
              <a:t>7 majors in this quadrant</a:t>
            </a:r>
          </a:p>
          <a:p>
            <a:pPr/>
            <a:r>
              <a:t>Music: 27 enrolled, +125.0% (+15) *</a:t>
            </a:r>
          </a:p>
          <a:p>
            <a:pPr/>
            <a:r>
              <a:t>English: 26 enrolled, +23.8% (+5)</a:t>
            </a:r>
          </a:p>
          <a:p>
            <a:pPr/>
            <a:r>
              <a:t>Nutrition: 23 enrolled, +15.0% (+3)</a:t>
            </a:r>
          </a:p>
          <a:p>
            <a:pPr/>
            <a:r>
              <a:t>Mathematics: 21 enrolled, +31.2% (+5) *</a:t>
            </a:r>
          </a:p>
          <a:p>
            <a:pPr/>
            <a:r>
              <a:t>Elementary Education: 21 enrolled, +16.7% (+3) *</a:t>
            </a:r>
          </a:p>
          <a:p>
            <a:pPr/>
            <a:r>
              <a:t>Early Childhood Education: 10 enrolled, +42.9% (+3)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Concerns — Small &amp; Declining</a:t>
            </a:r>
          </a:p>
        </p:txBody>
      </p:sp>
      <p:sp>
        <p:nvSpPr>
          <p:cNvPr id="3" name="Content Placeholder 2"/>
          <p:cNvSpPr>
            <a:spLocks noGrp="1"/>
          </p:cNvSpPr>
          <p:nvPr>
            <p:ph idx="1"/>
          </p:nvPr>
        </p:nvSpPr>
        <p:spPr/>
        <p:txBody>
          <a:bodyPr/>
          <a:lstStyle/>
          <a:p>
            <a:r>
              <a:t>17 majors in this quadrant</a:t>
            </a:r>
          </a:p>
          <a:p>
            <a:pPr/>
            <a:r>
              <a:t>History: 37 enrolled, +0.0% (+0)</a:t>
            </a:r>
          </a:p>
          <a:p>
            <a:pPr/>
            <a:r>
              <a:t>Public Health: 37 enrolled, -57.0% (-49)</a:t>
            </a:r>
          </a:p>
          <a:p>
            <a:pPr/>
            <a:r>
              <a:t>Journalism &amp; Multimedia Studies: 34 enrolled, -24.4% (-11)</a:t>
            </a:r>
          </a:p>
          <a:p>
            <a:pPr/>
            <a:r>
              <a:t>Political Science: 31 enrolled, -13.9% (-5)</a:t>
            </a:r>
          </a:p>
          <a:p>
            <a:pPr/>
            <a:r>
              <a:t>Exercise &amp; Health Promotion: 27 enrolled, -22.9% (-8)</a:t>
            </a:r>
          </a:p>
          <a:p>
            <a:pPr/>
            <a:r>
              <a:t>Chemistry: 27 enrolled, +0.0%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Health</a:t>
            </a:r>
          </a:p>
        </p:txBody>
      </p:sp>
      <p:sp>
        <p:nvSpPr>
          <p:cNvPr id="3" name="Content Placeholder 2"/>
          <p:cNvSpPr>
            <a:spLocks noGrp="1"/>
          </p:cNvSpPr>
          <p:nvPr>
            <p:ph idx="1"/>
          </p:nvPr>
        </p:nvSpPr>
        <p:spPr/>
        <p:txBody>
          <a:bodyPr/>
          <a:lstStyle/>
          <a:p>
            <a:r>
              <a:t>15 Stars, 9 Cash Cows, 7 Question Marks, 17 Concerns</a:t>
            </a:r>
          </a:p>
          <a:p>
            <a:pPr/>
            <a:r>
              <a:t>Overall enrollment declined 3.1% (2,899 → 2,810) from 2022 to 2024</a:t>
            </a:r>
          </a:p>
          <a:p>
            <a:pPr/>
            <a:r>
              <a:t>12 programs flagged as small base (&lt; 20 students in 2022)</a:t>
            </a:r>
          </a:p>
          <a:p>
            <a:pPr/>
            <a:r>
              <a:t>Mission-critical programs (e.g., NAIS) must not be evaluated on enrollment alone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Recommendations</a:t>
            </a:r>
          </a:p>
        </p:txBody>
      </p:sp>
      <p:sp>
        <p:nvSpPr>
          <p:cNvPr id="3" name="Content Placeholder 2"/>
          <p:cNvSpPr>
            <a:spLocks noGrp="1"/>
          </p:cNvSpPr>
          <p:nvPr>
            <p:ph idx="1"/>
          </p:nvPr>
        </p:nvSpPr>
        <p:spPr/>
        <p:txBody>
          <a:bodyPr/>
          <a:lstStyle/>
          <a:p>
            <a:r>
              <a:t>Stars: Invest to sustain — Business Admin, Exercise Physiology, Env Conservation lead</a:t>
            </a:r>
          </a:p>
          <a:p>
            <a:pPr/>
            <a:r>
              <a:t>Cash Cows: Optimize efficiency — Psychology, Biology/CMB need retention focus</a:t>
            </a:r>
          </a:p>
          <a:p>
            <a:pPr/>
            <a:r>
              <a:t>Question Marks: Validate growth sustainability before major investment</a:t>
            </a:r>
          </a:p>
          <a:p>
            <a:pPr/>
            <a:r>
              <a:t>Concerns: Structured review; protect mission-critical programs</a:t>
            </a:r>
          </a:p>
          <a:p>
            <a:pPr/>
            <a:r>
              <a:t>Small-base caution: Interpret percentage changes for tiny programs with care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