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BCG Growth-Share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Portfolio Analysis</a:t>
            </a:r>
          </a:p>
          <a:p>
            <a:r>
              <a:t>Fort Lewis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BCG Growth-Share Matrix, adapted from the Boston Consulting Group framework, categorizes FLC's academic departments based on two dimensions: relative market share (measured by percentage of total Student Credit Hours) and growth rate (2-year enrollment change). Programs are classified as Stars, Cash Cows, Question Marks, or Concerns to guide resource allocation priorities.</a:t>
            </a:r>
          </a:p>
          <a:p>
            <a:pPr/>
            <a:r>
              <a:t>X-axis: % of Total SCH (23-24) = Market Share</a:t>
            </a:r>
          </a:p>
          <a:p>
            <a:pPr/>
            <a:r>
              <a:t>Y-axis: 2-Year Change % = Growth Rate</a:t>
            </a:r>
          </a:p>
          <a:p>
            <a:pPr/>
            <a:r>
              <a:t>Note: 'Concerns' used instead of 'Dogs' per FLC preference</a:t>
            </a:r>
          </a:p>
          <a:p>
            <a:pPr/>
            <a:r>
              <a:t>Source: BCG Presentation.pptx, BCG-growthMatrixDepts.png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departments in this quadrant</a:t>
            </a:r>
          </a:p>
          <a:p>
            <a:pPr/>
            <a:r>
              <a:t>Business Administration: 5.8% SCH, +4.0%</a:t>
            </a:r>
          </a:p>
          <a:p>
            <a:pPr/>
            <a:r>
              <a:t>Psychology: 6.0% SCH, +3.0%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Cows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departments in this quadrant</a:t>
            </a:r>
          </a:p>
          <a:p>
            <a:pPr/>
            <a:r>
              <a:t>English: 10.0% SCH, -6.0%</a:t>
            </a:r>
          </a:p>
          <a:p>
            <a:pPr/>
            <a:r>
              <a:t>Mathematics: 8.5% SCH, -11.0%</a:t>
            </a:r>
          </a:p>
          <a:p>
            <a:pPr/>
            <a:r>
              <a:t>Health &amp; Human Performance: 7.5% SCH, -3.0%</a:t>
            </a:r>
          </a:p>
          <a:p>
            <a:pPr/>
            <a:r>
              <a:t>Biology: 7.0% SCH, -14.5%</a:t>
            </a:r>
          </a:p>
          <a:p>
            <a:pPr/>
            <a:r>
              <a:t>Sociology: 6.0% SCH, -5.5%</a:t>
            </a:r>
          </a:p>
          <a:p>
            <a:pPr/>
            <a:r>
              <a:t>Performing Arts: 5.5% SCH, -3.0%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departments in this quadrant</a:t>
            </a:r>
          </a:p>
          <a:p>
            <a:pPr/>
            <a:r>
              <a:t>Accounting: 1.8% SCH, +12.0%</a:t>
            </a:r>
          </a:p>
          <a:p>
            <a:pPr/>
            <a:r>
              <a:t>History: 3.8% SCH, +3.0%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departments in this quadrant</a:t>
            </a:r>
          </a:p>
          <a:p>
            <a:pPr/>
            <a:r>
              <a:t>Geosciences: 4.2% SCH, -15.5%</a:t>
            </a:r>
          </a:p>
          <a:p>
            <a:pPr/>
            <a:r>
              <a:t>Art &amp; Design: 2.5% SCH, -18.0%</a:t>
            </a:r>
          </a:p>
          <a:p>
            <a:pPr/>
            <a:r>
              <a:t>Economics: 2.5% SCH, -24.0%</a:t>
            </a:r>
          </a:p>
          <a:p>
            <a:pPr/>
            <a:r>
              <a:t>Political Science: 1.5% SCH, -26.0%</a:t>
            </a:r>
          </a:p>
          <a:p>
            <a:pPr/>
            <a:r>
              <a:t>Anthropology: 2.5% SCH, -7.5%</a:t>
            </a:r>
          </a:p>
          <a:p>
            <a:pPr/>
            <a:r>
              <a:t>Environment &amp; Sustainability: 3.0% SCH, -8.0%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Stars (9%), 9 Cash Cows (41%), 2 Question Marks (9%), 9 Concerns (41%)</a:t>
            </a:r>
          </a:p>
          <a:p>
            <a:pPr/>
            <a:r>
              <a:t>Concerning imbalance: 41% of departments in Concern quadrant</a:t>
            </a:r>
          </a:p>
          <a:p>
            <a:pPr/>
            <a:r>
              <a:t>Cash Cows provide stable SCH but face declining trajectories</a:t>
            </a:r>
          </a:p>
          <a:p>
            <a:pPr/>
            <a:r>
              <a:t>Mission-critical Concern programs need restructuring, not elimination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Stars: Invest to accelerate (online, graduate tracks)</a:t>
            </a:r>
          </a:p>
          <a:p>
            <a:pPr/>
            <a:r>
              <a:t>Cash Cows: Optimize efficiency, protect SCH generation</a:t>
            </a:r>
          </a:p>
          <a:p>
            <a:pPr/>
            <a:r>
              <a:t>Question Marks: Evaluate selectively (Accounting promising)</a:t>
            </a:r>
          </a:p>
          <a:p>
            <a:pPr/>
            <a:r>
              <a:t>Concerns: Structured review; differentiate mission-critical vs. phase-out</a:t>
            </a:r>
          </a:p>
          <a:p>
            <a:pPr/>
            <a:r>
              <a:t>Explore interdisciplinary combinations for Concern programs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