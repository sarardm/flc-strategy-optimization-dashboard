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FLC Portfolio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Presentation</a:t>
            </a:r>
          </a:p>
          <a:p>
            <a:r>
              <a:t>Fort Lewis College Academic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 &amp; Methodology</a:t>
            </a:r>
          </a:p>
          <a:p>
            <a:pPr/>
            <a:r>
              <a:t>Phase 1: Environmental Scanning (PESTLE, Porter's, BCG, Gray Associates)</a:t>
            </a:r>
          </a:p>
          <a:p>
            <a:pPr/>
            <a:r>
              <a:t>Phase 2: Strategic Synthesis (SWOT)</a:t>
            </a:r>
          </a:p>
          <a:p>
            <a:pPr/>
            <a:r>
              <a:t>Phase 3: Strategic Direction (Zone to Win &amp; Scenarios)</a:t>
            </a:r>
          </a:p>
          <a:p>
            <a:pPr/>
            <a:r>
              <a:t>Risk &amp; Implementation</a:t>
            </a:r>
          </a:p>
          <a:p>
            <a:pPr/>
            <a:r>
              <a:t>Recommendations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Fort Lewis College — Durango, Colorado | Public Liberal Arts</a:t>
            </a:r>
          </a:p>
          <a:p>
            <a:pPr/>
            <a:r>
              <a:t>Enrollment: 3,457 | Retention: 66.1%</a:t>
            </a:r>
          </a:p>
          <a:p>
            <a:pPr/>
            <a:r>
              <a:t>Native American–serving mission with federally rooted tuition waiver</a:t>
            </a:r>
          </a:p>
          <a:p>
            <a:pPr/>
            <a:r>
              <a:t>3-Phase methodology: Scanning → Synthesis → Direction</a:t>
            </a:r>
          </a:p>
          <a:p>
            <a:pPr/>
            <a:r>
              <a:t>7 frameworks; BCG: 22 departments (SCH) + 48 majors (enrollment); Gray: 23 programs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PESTLE: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Political: High (5/5) — Trump administration (2025–2029) reducing federal HE funding; 120 TRIO programs terminated</a:t>
            </a:r>
          </a:p>
          <a:p>
            <a:pPr/>
            <a:r>
              <a:t>Economic: High (5/5) — Colorado shifts costs to students via tuition rather than state appropriations</a:t>
            </a:r>
          </a:p>
          <a:p>
            <a:pPr/>
            <a:r>
              <a:t>Social: Medium-High (4/5) — Declining college-going rates nationally and in Colorado</a:t>
            </a:r>
          </a:p>
          <a:p>
            <a:pPr/>
            <a:r>
              <a:t>Technological: High (4/5) — AI disruption transforming pedagogy, assessment, and student expectations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PESTLE: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Political: Reframe Indigenous programs through statutory obligations (CRS 23-52-105) and cultural preservation (legally safe)</a:t>
            </a:r>
          </a:p>
          <a:p>
            <a:pPr/>
            <a:r>
              <a:t>Economic: Healthcare/nursing programs (strong regional employer demand)</a:t>
            </a:r>
          </a:p>
          <a:p>
            <a:pPr/>
            <a:r>
              <a:t>Social: Indigenous education leadership — reframe through statutory obligations (CRS 23-52-105), not DEI</a:t>
            </a:r>
          </a:p>
          <a:p>
            <a:pPr/>
            <a:r>
              <a:t>Technological: AI Institute partnerships and curriculum integration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Porter's Five Forces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Rivalry: High (4.0/5)</a:t>
            </a:r>
          </a:p>
          <a:p>
            <a:pPr/>
            <a:r>
              <a:t>Threat of New Entrants: Medium (3.0/5)</a:t>
            </a:r>
          </a:p>
          <a:p>
            <a:pPr/>
            <a:r>
              <a:t>Bargaining Power of Students: High (4.0/5)</a:t>
            </a:r>
          </a:p>
          <a:p>
            <a:pPr/>
            <a:r>
              <a:t>Bargaining Power of Suppliers: Medium (3.0/5)</a:t>
            </a:r>
          </a:p>
          <a:p>
            <a:pPr/>
            <a:r>
              <a:t>Threat of Substitutes: Medium (3.0/5)</a:t>
            </a:r>
          </a:p>
          <a:p>
            <a:pPr/>
            <a:r>
              <a:t>Overall intensity: 3.4/5 (HIGH)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Porter's: Competitive 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competitive intensity is HIGH, but FLC's place-based, experiential value proposition serves a distinct market segment.</a:t>
            </a:r>
          </a:p>
          <a:p>
            <a:pPr/>
            <a:r>
              <a:t>FLC's strongest defensive positions: statutory Native American mission (CRS 23-52-105, federal-state contract), outdoor recreation lifestyle, and small class sizes.</a:t>
            </a:r>
          </a:p>
          <a:p>
            <a:pPr/>
            <a:r>
              <a:t>Online competition assumed based on national trends but UNVERIFIED for FLC — admitted-but-not-enrolled survey data needed.</a:t>
            </a:r>
          </a:p>
          <a:p>
            <a:pPr/>
            <a:r>
              <a:t>Faculty recruitment is a Durango problem (cost of living + salary), not a national supply problem — except in nursing, CS, and engineering.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BCG: Department-Level (SCH-Based)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Stars: 2 departments (Business Admin, Psychology)</a:t>
            </a:r>
          </a:p>
          <a:p>
            <a:pPr/>
            <a:r>
              <a:t>Cash Cows: 9 departments (English, Math, Biology, HHP, etc.)</a:t>
            </a:r>
          </a:p>
          <a:p>
            <a:pPr/>
            <a:r>
              <a:t>Question Marks: 2 departments (Accounting, History)</a:t>
            </a:r>
          </a:p>
          <a:p>
            <a:pPr/>
            <a:r>
              <a:t>Concerns: 9 departments (Poli Sci, Economics, Art &amp; Design, etc.)</a:t>
            </a:r>
          </a:p>
          <a:p>
            <a:pPr/>
            <a:r>
              <a:t>Cash Cows generate bulk of institutional SCH but all show 2-year enrollment declines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BCG: Major-Level (Enrollment-Based)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Stars: 15 majors (above-median enrollment, positive growth)</a:t>
            </a:r>
          </a:p>
          <a:p>
            <a:pPr/>
            <a:r>
              <a:t>Cash Cows: 9 majors (above-median enrollment, negative/flat growth)</a:t>
            </a:r>
          </a:p>
          <a:p>
            <a:pPr/>
            <a:r>
              <a:t>Question Marks: 7 majors (below-median enrollment, positive growth)</a:t>
            </a:r>
          </a:p>
          <a:p>
            <a:pPr/>
            <a:r>
              <a:t>Concerns: 17 majors (below-median enrollment, negative/flat growth)</a:t>
            </a:r>
          </a:p>
          <a:p>
            <a:pPr/>
            <a:r>
              <a:t>Portfolio note: 35% in Concern quadrant; small-base programs flagged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BCG: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 (Large &amp; Growing): Business Administration (+10%, 325 enrolled), Exercise Physiology (+17%, 160), and Environmental Conservation &amp; Mgmt (+62%, 133) lead FLC's portfolio with strong enrollment and positive growth.</a:t>
            </a:r>
          </a:p>
          <a:p>
            <a:pPr/>
            <a:r>
              <a:t>Cash Cows (Large &amp; Declining): Psychology (-18%, 224), Biology/CMB (-42%, 111), and Pre-Major Accounting (-32%, 102) maintain significant enrollment but face declining trends requiring efficiency optimization.</a:t>
            </a:r>
          </a:p>
          <a:p>
            <a:pPr/>
            <a:r>
              <a:t>Question Marks (Small &amp; Growing): Anthropology (+121%, 53) and Music (+125%, 27) show dramatic growth but from small bases — evaluate whether growth is sustainable before major investment.</a:t>
            </a:r>
          </a:p>
          <a:p>
            <a:pPr/>
            <a:r>
              <a:t>Concerns (Small &amp; Declining): Economics (-76%, 9), MND: Art &amp; Design (-98%, 3), and Public Health (-57%, 37) face both small enrollment and steep declines — candidates for structured program review.</a:t>
            </a:r>
          </a:p>
          <a:p>
            <a:pPr/>
            <a:r>
              <a:t>Small-base caution: 12 programs had fewer than 20 students in 2022. Their percentage changes can be misleading (e.g., Music: 12→27 = +125% from just 15 additional students).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Gray Associates: Program Classifications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(7): Business Administration, Psychology, Engineering</a:t>
            </a:r>
          </a:p>
          <a:p>
            <a:pPr/>
            <a:r>
              <a:t>Sustain (8): Environmental Conservation &amp; Mgmt, Criminology &amp; Justice Studies, Environmental Science</a:t>
            </a:r>
          </a:p>
          <a:p>
            <a:pPr/>
            <a:r>
              <a:t>Transform (2): English, Mathematics</a:t>
            </a:r>
          </a:p>
          <a:p>
            <a:pPr/>
            <a:r>
              <a:t>Evaluate (4): Economics, History, Philosophy</a:t>
            </a:r>
          </a:p>
          <a:p>
            <a:pPr/>
            <a:r>
              <a:t>Sunset Review (2): Art &amp; Design, Political Science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Gray Associates: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GROW programs (high market + strong economics): Business Admin, Psychology, Engineering, Health Sciences, CIS, Exercise Physiology, Accounting show strongest investment case.</a:t>
            </a:r>
          </a:p>
          <a:p>
            <a:pPr/>
            <a:r>
              <a:t>SUSTAIN programs (solid market, needs efficiency): Environmental programs, Criminology, Biology, Sociology, Teacher Education maintain enrollment but need optimization.</a:t>
            </a:r>
          </a:p>
          <a:p>
            <a:pPr/>
            <a:r>
              <a:t>TRANSFORM programs (weak market, strong economics): English and Math generate significant SCH as foundational/service courses — low Market Score reflects major enrollment, not institutional value.</a:t>
            </a:r>
          </a:p>
          <a:p>
            <a:pPr/>
            <a:r>
              <a:t>EVALUATE/SUNSET programs: Political Science, Art &amp; Design require strategic review. Note: NAIS is mission-critical and must not be evaluated on enrollment metrics alone.</a:t>
            </a:r>
          </a:p>
          <a:p>
            <a:pPr/>
            <a:r>
              <a:t>Data source disclaimer: FLC does not have a Gray Associates subscription. Scores are proxy estimates based on FLC data, not official Gray Associates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 (7): Statutory Native American Mission, Strong Star Programs (Major-Level BCG)</a:t>
            </a:r>
          </a:p>
          <a:p>
            <a:pPr/>
            <a:r>
              <a:t>Weaknesses (7): Declining Undergraduate Enrollment, 17 Concern-Quadrant Majors</a:t>
            </a:r>
          </a:p>
          <a:p>
            <a:pPr/>
            <a:r>
              <a:t>Opportunities (7): Invest in Star Programs, Indigenous Education Leadership (Statutorily Grounded)</a:t>
            </a:r>
          </a:p>
          <a:p>
            <a:pPr/>
            <a:r>
              <a:t>Threats (7): DEI &amp; Federal Scrutiny of Public Higher Ed, Tribal Education Funding Volatility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SWOT: Strategic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 Statutory Native American Mission — Federal-state-tribal obligation (CRS 23-52-105, since 1911) to serve Native Amer...</a:t>
            </a:r>
          </a:p>
          <a:p>
            <a:pPr/>
            <a:r>
              <a:t>Weaknesses: Declining Undergraduate Enrollment — UG degree-seeking enrollment fell from 3,498 (2016) to 3,021 (2025), -13.6% over...</a:t>
            </a:r>
          </a:p>
          <a:p>
            <a:pPr/>
            <a:r>
              <a:t>Opportunities: Invest in Star Programs — BCG Star programs (Business Admin, Exercise Physiology, Env Conservation, Bioche...</a:t>
            </a:r>
          </a:p>
          <a:p>
            <a:pPr/>
            <a:r>
              <a:t>Threats: DEI &amp; Federal Scrutiny of Public Higher Ed — 120 TRIO programs terminated; 50+ universities under Title VI investigation. Pro...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to Win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Zone (6 initiatives): Revenue maintenance and growth in proven programs. Focus on BCG Stars and Gray A...</a:t>
            </a:r>
          </a:p>
          <a:p>
            <a:pPr/>
            <a:r>
              <a:t>Productivity Zone (6 initiatives): Enabling investments for retention, efficiency, and operational excellence. High...</a:t>
            </a:r>
          </a:p>
          <a:p>
            <a:pPr/>
            <a:r>
              <a:t>Incubation Zone (5 initiatives): Disciplined experimentation with emerging opportunities. Online programs heavily...</a:t>
            </a:r>
          </a:p>
          <a:p>
            <a:pPr/>
            <a:r>
              <a:t>Transformation Zone (4 initiatives): Strategic bets that change institutional trajectory. Must be framed through stat...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to Win: Key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Zone: Business Administration, Exercise Physiology</a:t>
            </a:r>
          </a:p>
          <a:p>
            <a:pPr/>
            <a:r>
              <a:t>Productivity Zone: Retention Programs, Advising System Overhaul</a:t>
            </a:r>
          </a:p>
          <a:p>
            <a:pPr/>
            <a:r>
              <a:t>Incubation Zone: AI Institute Expansion, Dual Enrollment Expansion</a:t>
            </a:r>
          </a:p>
          <a:p>
            <a:pPr/>
            <a:r>
              <a:t>Transformation Zone: Indigenous Education Hub, Experiential Learning Model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Strategic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Incremental: Enrollment 3,450, Retention 68.0%, 0 new programs</a:t>
            </a:r>
          </a:p>
          <a:p>
            <a:pPr/>
            <a:r>
              <a:t>  → Low-risk strategy that builds on current strengths. Focuses on stabilizing enrol</a:t>
            </a:r>
          </a:p>
          <a:p>
            <a:pPr/>
            <a:r>
              <a:t>Moderate-Adaptive: Enrollment 3,550, Retention 70.0%, 1 new programs</a:t>
            </a:r>
          </a:p>
          <a:p>
            <a:pPr/>
            <a:r>
              <a:t>  → Balanced strategy with selective investment in differentiated strengths. Invests</a:t>
            </a:r>
          </a:p>
          <a:p>
            <a:pPr/>
            <a:r>
              <a:t>Disruptive: Enrollment 3,700, Retention 72.0%, 3 new programs</a:t>
            </a:r>
          </a:p>
          <a:p>
            <a:pPr/>
            <a:r>
              <a:t>  → Bold repositioning strategy that restructures FLC's academic portfolio and ident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American tuition waiver misclassified as DEI and defunded (Medium/Critical): Proactively document NATW legal basis (CRS 23-52-105, 1911 f...</a:t>
            </a:r>
          </a:p>
          <a:p>
            <a:pPr/>
            <a:r>
              <a:t>Federal DEI policy disrupts TRIO/diversity programs (High/High): Reframe Indigenous education and first-gen programs through ...</a:t>
            </a:r>
          </a:p>
          <a:p>
            <a:pPr/>
            <a:r>
              <a:t>State funding cut exceeds 3% (Medium/High): Diversify revenue through retention gains, dual enrollment g...</a:t>
            </a:r>
          </a:p>
          <a:p>
            <a:pPr/>
            <a:r>
              <a:t>Durango housing crisis worsens faculty/staff recruitment (High/High): Develop faculty housing partnership with City of Durango. Im...</a:t>
            </a:r>
          </a:p>
          <a:p>
            <a:pPr/>
            <a:r>
              <a:t>Enrollment falls below 3,200 (Low/High): Activate emergency recruitment campaign. Accelerate dual enr...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 in Star majors (Business Admin, Exercise Physiology, Psychology, Engineering)</a:t>
            </a:r>
          </a:p>
          <a:p>
            <a:pPr/>
            <a:r>
              <a:t>Initiate structured review of 17 Concern-quadrant majors (protect NAIS regardless)</a:t>
            </a:r>
          </a:p>
          <a:p>
            <a:pPr/>
            <a:r>
              <a:t>Prioritize retention as most cost-effective enrollment strategy</a:t>
            </a:r>
          </a:p>
          <a:p>
            <a:pPr/>
            <a:r>
              <a:t>Pursue Indigenous online niche (statutorily grounded, NATW moat) — not generic degrees</a:t>
            </a:r>
          </a:p>
          <a:p>
            <a:pPr/>
            <a:r>
              <a:t>Strengthen dual enrollment (3+ schools) and transfer pipelines</a:t>
            </a:r>
          </a:p>
          <a:p>
            <a:pPr/>
            <a:r>
              <a:t>Address Durango housing barrier; navigate faculty governance with 12-18 month timelines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