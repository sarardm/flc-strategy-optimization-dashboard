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Porter's Five Forces Analysis</a:t>
            </a:r>
          </a:p>
        </p:txBody>
      </p:sp>
      <p:sp>
        <p:nvSpPr>
          <p:cNvPr id="3" name="Subtitle 2"/>
          <p:cNvSpPr>
            <a:spLocks noGrp="1"/>
          </p:cNvSpPr>
          <p:nvPr>
            <p:ph type="subTitle" idx="1"/>
          </p:nvPr>
        </p:nvSpPr>
        <p:spPr/>
        <p:txBody>
          <a:bodyPr/>
          <a:lstStyle/>
          <a:p>
            <a:r>
              <a:t>Competitive Market Assessment</a:t>
            </a:r>
          </a:p>
          <a:p>
            <a:r>
              <a:t>Fort Lewis College Academic Affairs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a:t>
            </a:r>
          </a:p>
        </p:txBody>
      </p:sp>
      <p:sp>
        <p:nvSpPr>
          <p:cNvPr id="3" name="Content Placeholder 2"/>
          <p:cNvSpPr>
            <a:spLocks noGrp="1"/>
          </p:cNvSpPr>
          <p:nvPr>
            <p:ph idx="1"/>
          </p:nvPr>
        </p:nvSpPr>
        <p:spPr/>
        <p:txBody>
          <a:bodyPr/>
          <a:lstStyle/>
          <a:p>
            <a:r>
              <a:t>Porter's Five Forces framework assesses the competitive intensity and attractiveness of the higher education market in which Fort Lewis College operates. By analyzing the threat of new entrants, bargaining power of suppliers (faculty/vendors) and buyers (students), threat of substitutes, and rivalry among existing competitors, this model reveals FLC's competitive position and informs differentiation strategy.</a:t>
            </a:r>
          </a:p>
          <a:p>
            <a:pPr/>
            <a:r>
              <a:t>Source: Published higher education research + FLC institutional data</a:t>
            </a:r>
          </a:p>
          <a:p>
            <a:pPr/>
            <a:r>
              <a:t>Each force rated 1-5 (Low-High intensity) with indicators and trends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Rivalry</a:t>
            </a:r>
          </a:p>
        </p:txBody>
      </p:sp>
      <p:sp>
        <p:nvSpPr>
          <p:cNvPr id="3" name="Content Placeholder 2"/>
          <p:cNvSpPr>
            <a:spLocks noGrp="1"/>
          </p:cNvSpPr>
          <p:nvPr>
            <p:ph idx="1"/>
          </p:nvPr>
        </p:nvSpPr>
        <p:spPr/>
        <p:txBody>
          <a:bodyPr/>
          <a:lstStyle/>
          <a:p>
            <a:r>
              <a:t>Rating: High (4.5/5)</a:t>
            </a:r>
          </a:p>
          <a:p>
            <a:pPr/>
            <a:r>
              <a:t>Intense competition from CU system, CSU, Western Colorado, and online programs</a:t>
            </a:r>
          </a:p>
          <a:p>
            <a:pPr/>
            <a:r>
              <a:t>Number of competing institutions in CO: 30+ (Increasing)</a:t>
            </a:r>
          </a:p>
          <a:p>
            <a:pPr/>
            <a:r>
              <a:t>FLC market share of CO HS graduates: ~2% (Stable)</a:t>
            </a:r>
          </a:p>
          <a:p>
            <a:pPr/>
            <a:r>
              <a:t>Enrollment change vs peers: -2.5% (Declining)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Threat of New Entrants</a:t>
            </a:r>
          </a:p>
        </p:txBody>
      </p:sp>
      <p:sp>
        <p:nvSpPr>
          <p:cNvPr id="3" name="Content Placeholder 2"/>
          <p:cNvSpPr>
            <a:spLocks noGrp="1"/>
          </p:cNvSpPr>
          <p:nvPr>
            <p:ph idx="1"/>
          </p:nvPr>
        </p:nvSpPr>
        <p:spPr/>
        <p:txBody>
          <a:bodyPr/>
          <a:lstStyle/>
          <a:p>
            <a:r>
              <a:t>Rating: Medium-High (3.5/5)</a:t>
            </a:r>
          </a:p>
          <a:p>
            <a:pPr/>
            <a:r>
              <a:t>Online programs and micro-credentials lowering traditional barriers to entry</a:t>
            </a:r>
          </a:p>
          <a:p>
            <a:pPr/>
            <a:r>
              <a:t>Accreditation barriers: High (Stable)</a:t>
            </a:r>
          </a:p>
          <a:p>
            <a:pPr/>
            <a:r>
              <a:t>Online program launches (competing): Growing (Increasing)</a:t>
            </a:r>
          </a:p>
          <a:p>
            <a:pPr/>
            <a:r>
              <a:t>Boot camp / certificate programs: Moderate (Increasing)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Bargaining Power of Students</a:t>
            </a:r>
          </a:p>
        </p:txBody>
      </p:sp>
      <p:sp>
        <p:nvSpPr>
          <p:cNvPr id="3" name="Content Placeholder 2"/>
          <p:cNvSpPr>
            <a:spLocks noGrp="1"/>
          </p:cNvSpPr>
          <p:nvPr>
            <p:ph idx="1"/>
          </p:nvPr>
        </p:nvSpPr>
        <p:spPr/>
        <p:txBody>
          <a:bodyPr/>
          <a:lstStyle/>
          <a:p>
            <a:r>
              <a:t>Rating: High (4.0/5)</a:t>
            </a:r>
          </a:p>
          <a:p>
            <a:pPr/>
            <a:r>
              <a:t>Students have many choices; FLC must compete on value, experience, and outcomes</a:t>
            </a:r>
          </a:p>
          <a:p>
            <a:pPr/>
            <a:r>
              <a:t>Yield rate (confirmed to enrolled): ~87% (Improving)</a:t>
            </a:r>
          </a:p>
          <a:p>
            <a:pPr/>
            <a:r>
              <a:t>Summer melt rate (FY): 12.9% (Improving)</a:t>
            </a:r>
          </a:p>
          <a:p>
            <a:pPr/>
            <a:r>
              <a:t>Transfer-out competition: Moderate (Stable)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Bargaining Power of Suppliers</a:t>
            </a:r>
          </a:p>
        </p:txBody>
      </p:sp>
      <p:sp>
        <p:nvSpPr>
          <p:cNvPr id="3" name="Content Placeholder 2"/>
          <p:cNvSpPr>
            <a:spLocks noGrp="1"/>
          </p:cNvSpPr>
          <p:nvPr>
            <p:ph idx="1"/>
          </p:nvPr>
        </p:nvSpPr>
        <p:spPr/>
        <p:txBody>
          <a:bodyPr/>
          <a:lstStyle/>
          <a:p>
            <a:r>
              <a:t>Rating: Medium-High (3.5/5)</a:t>
            </a:r>
          </a:p>
          <a:p>
            <a:pPr/>
            <a:r>
              <a:t>Faculty recruitment challenging due to remote location and salary competition</a:t>
            </a:r>
          </a:p>
          <a:p>
            <a:pPr/>
            <a:r>
              <a:t>Faculty with terminal degrees: 98% (Stable)</a:t>
            </a:r>
          </a:p>
          <a:p>
            <a:pPr/>
            <a:r>
              <a:t>Durango cost of living: High (Increasing)</a:t>
            </a:r>
          </a:p>
          <a:p>
            <a:pPr/>
            <a:r>
              <a:t>Specialized faculty scarcity: Moderate (Increasing)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Threat of Substitutes</a:t>
            </a:r>
          </a:p>
        </p:txBody>
      </p:sp>
      <p:sp>
        <p:nvSpPr>
          <p:cNvPr id="3" name="Content Placeholder 2"/>
          <p:cNvSpPr>
            <a:spLocks noGrp="1"/>
          </p:cNvSpPr>
          <p:nvPr>
            <p:ph idx="1"/>
          </p:nvPr>
        </p:nvSpPr>
        <p:spPr/>
        <p:txBody>
          <a:bodyPr/>
          <a:lstStyle/>
          <a:p>
            <a:r>
              <a:t>Rating: Medium-High (3.5/5)</a:t>
            </a:r>
          </a:p>
          <a:p>
            <a:pPr/>
            <a:r>
              <a:t>Online degrees, certificates, and workforce programs offer alternatives to 4-year degree</a:t>
            </a:r>
          </a:p>
          <a:p>
            <a:pPr/>
            <a:r>
              <a:t>Online degree program growth: Rapid (Increasing)</a:t>
            </a:r>
          </a:p>
          <a:p>
            <a:pPr/>
            <a:r>
              <a:t>Micro-credential adoption: Growing (Increasing)</a:t>
            </a:r>
          </a:p>
          <a:p>
            <a:pPr/>
            <a:r>
              <a:t>Community college pathways: Strong (Increasing)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Overall Assessment</a:t>
            </a:r>
          </a:p>
        </p:txBody>
      </p:sp>
      <p:sp>
        <p:nvSpPr>
          <p:cNvPr id="3" name="Content Placeholder 2"/>
          <p:cNvSpPr>
            <a:spLocks noGrp="1"/>
          </p:cNvSpPr>
          <p:nvPr>
            <p:ph idx="1"/>
          </p:nvPr>
        </p:nvSpPr>
        <p:spPr/>
        <p:txBody>
          <a:bodyPr/>
          <a:lstStyle/>
          <a:p>
            <a:r>
              <a:t>Average competitive intensity: 3.8/5 (HIGH)</a:t>
            </a:r>
          </a:p>
          <a:p>
            <a:pPr/>
            <a:r>
              <a:t>Strongest pressures: Competitive Rivalry (4.5), Student Power (4.0)</a:t>
            </a:r>
          </a:p>
          <a:p>
            <a:pPr/>
            <a:r>
              <a:t>FLC defensive moats: Native American mission, outdoor lifestyle, small-college experience</a:t>
            </a:r>
          </a:p>
          <a:p>
            <a:pPr/>
            <a:r>
              <a:t>Greatest vulnerabilities: online competition, price sensitivity, faculty recruitment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Recommendations</a:t>
            </a:r>
          </a:p>
        </p:txBody>
      </p:sp>
      <p:sp>
        <p:nvSpPr>
          <p:cNvPr id="3" name="Content Placeholder 2"/>
          <p:cNvSpPr>
            <a:spLocks noGrp="1"/>
          </p:cNvSpPr>
          <p:nvPr>
            <p:ph idx="1"/>
          </p:nvPr>
        </p:nvSpPr>
        <p:spPr/>
        <p:txBody>
          <a:bodyPr/>
          <a:lstStyle/>
          <a:p>
            <a:r>
              <a:t>Leverage experiential/outdoor differentiators against online competitors</a:t>
            </a:r>
          </a:p>
          <a:p>
            <a:pPr/>
            <a:r>
              <a:t>Develop strategic pricing models for student price sensitivity</a:t>
            </a:r>
          </a:p>
          <a:p>
            <a:pPr/>
            <a:r>
              <a:t>Build transfer pathways with community colleges as partners, not rivals</a:t>
            </a:r>
          </a:p>
          <a:p>
            <a:pPr/>
            <a:r>
              <a:t>Invest in unique programs with limited regional competition</a:t>
            </a:r>
          </a:p>
          <a:p>
            <a:pPr/>
            <a:r>
              <a:t>Address faculty recruitment through creative compensation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