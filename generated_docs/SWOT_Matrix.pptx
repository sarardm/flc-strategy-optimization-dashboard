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057"/>
                </a:solidFill>
              </a:rPr>
              <a:t>SWOT Analysis</a:t>
            </a:r>
          </a:p>
          <a:p>
            <a:pPr algn="l"/>
            <a:r>
              <a:rPr sz="1100">
                <a:solidFill>
                  <a:srgbClr val="666666"/>
                </a:solidFill>
              </a:rPr>
              <a:t>Fort Lewis College | Durango, Colorado | Cross-Framework Strategic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5577840" cy="347472"/>
          </a:xfrm>
          <a:prstGeom prst="rect">
            <a:avLst/>
          </a:prstGeom>
          <a:solidFill>
            <a:srgbClr val="2ECC71"/>
          </a:solidFill>
        </p:spPr>
        <p:txBody>
          <a:bodyPr wrap="square" tIns="38100" bIns="38100" lIns="1016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Strengths  (7 items)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99031"/>
            <a:ext cx="5577840" cy="2350008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txBody>
          <a:bodyPr wrap="square" tIns="76200" lIns="101600" rIns="76200" anchor="t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Unique Native American Mission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Federal obligation to serve Native American students with tuition waiver creates a distinctive institutional identity serving 166 tribes. 37% of students receive the Native American Tuition Waiver.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PESTLE (Social/Political), Institutional Data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Strong Star Programs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Business Administration (298 enrolled, +4% growth) and Psychology (227 enrolled, +3% growth) demonstrate both high market share and positive trajectory.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BCG Matrix, Gray Associates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High-SCH Cash Cow Programs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Nine departments (English, Math, Biology, HHP, etc.) generate the bulk of student credit hours, providing a stable revenue foundation despite enrollment softness.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BCG Matrix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Outdoor Recreation &amp; Location Differentiator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Durango's mountain setting and outdoor lifestyle create a powerful recruitment differentiator that online competitors cannot replicate. Adventure Education is uniquely positioned.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Porter's Five Forces, PESTLE (Social/Environmental)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Growing Graduate Programs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Graduate enrollment has grown from 10 (2016) to 160 (Fall 2025), a 16x increase demonstrating capacity to launch and scale new credential levels.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Institutional Data, Gray Associates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Small Class Sizes &amp; Faculty Quality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Average class size of 19, 100% of classes under 50 students, 98% of tenure-track faculty hold terminal degrees. 15:1 student-faculty ratio.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Institutional Data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Strong Employment-Aligned Programs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Engineering (92), Computer Info Systems (90), Business Admin (85), and Health Sciences (85) score highest on employment outlook in Gray Associates analysis.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Gray Associates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051560"/>
            <a:ext cx="5577840" cy="347472"/>
          </a:xfrm>
          <a:prstGeom prst="rect">
            <a:avLst/>
          </a:prstGeom>
          <a:solidFill>
            <a:srgbClr val="E74C3C"/>
          </a:solidFill>
        </p:spPr>
        <p:txBody>
          <a:bodyPr wrap="square" tIns="38100" bIns="38100" lIns="1016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Weaknesses  (6 items)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99031"/>
            <a:ext cx="5577840" cy="2350008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txBody>
          <a:bodyPr wrap="square" tIns="76200" lIns="101600" rIns="76200" anchor="t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Declining Undergraduate Enrollment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UG degree-seeking enrollment fell from 3,498 (2016) to 3,021 (2025), a -13.6% decline over 10 years. Total headcount down -2.5% YoY.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Institutional Data, Enrollment Overview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Multiple Concern-Quadrant Programs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Nine departments in BCG Concern quadrant: Political Science (-26%), Economics (-24%), Art &amp; Design (-18%), Geosciences (-15.5%) face both low market share and steep enrollment declines.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BCG Matrix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Retention Below National Average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66.1% FTFT retention rate is below the national average for public 4-year institutions (~73%). Equity gaps persist: First-Gen (60.9%), Pell (61.7%), Students of Color (62.6%).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Institutional Data, PESTLE (Social)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Remote Location Faculty Recruitment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Durango's high cost of living and geographic isolation create persistent challenges in attracting and retaining specialized faculty. Salary competitiveness is below average.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Porter's Five Forces (Supplier Power)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Tuition Waiver Revenue Impact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The Native American tuition waiver, while mission-critical, affects revenue generation with ~37% of students receiving the waiver, creating dependency on state funding.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PESTLE (Economic/Political)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Limited Online Program Offerings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Only 25 online course offerings currently, significantly limiting reach and competitiveness against institutions with robust online portfolios.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Porter's Five Forces, Gray Associates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931920"/>
            <a:ext cx="5577840" cy="347472"/>
          </a:xfrm>
          <a:prstGeom prst="rect">
            <a:avLst/>
          </a:prstGeom>
          <a:solidFill>
            <a:srgbClr val="3498DB"/>
          </a:solidFill>
        </p:spPr>
        <p:txBody>
          <a:bodyPr wrap="square" tIns="38100" bIns="38100" lIns="1016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Opportunities  (6 items)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79392"/>
            <a:ext cx="5577840" cy="2350008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txBody>
          <a:bodyPr wrap="square" tIns="76200" lIns="101600" rIns="76200" anchor="t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Expand High-Demand Programs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Gray Associates identifies 7 programs for GROW status: Business Admin, Psychology, Engineering, Health Sciences, Computer Info Systems, Exercise Physiology, Accounting. These align with strong employment markets.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Gray Associates, BCG Matrix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Graduate Program Expansion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16x growth in graduate enrollment (10 to 160) over 9 years demonstrates untapped capacity. Health Sciences graduate certificate and online MBA are immediate opportunities.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Institutional Data, Gray Associates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AI Institute Development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FLC's AI Institute represents an emerging strength in a high-demand field. Partnerships and curriculum integration can attract new student segments and research funding.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PESTLE (Technological), Institutional Data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Dual Enrollment Pipeline Growth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Dual enrollment grew from 52 (2016) to 235 (2025), 4.5x increase. 27 prior dual-enrollment students converted to degree-seeking in Fall 2025. Expansion partnerships with San Juan College, Pueblo CC, and Red Rocks CC are viable.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Institutional Data, Enrollment Overview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Sustainability &amp; Environmental Leadership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FLC's Environmental Conservation &amp; Management (133 enrolled) and Environmental Science (87 enrolled) programs, combined with Durango's setting, position the institution for climate/sustainability leadership.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PESTLE (Environmental), Gray Associates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Indigenous Education National Leadership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Serving 166 tribes with 26.5% Native American enrollment creates opportunity to become the premier Indigenous higher education institution nationally, attracting federal grants and partnerships.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PESTLE (Social/Political), Institutional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931920"/>
            <a:ext cx="5577840" cy="347472"/>
          </a:xfrm>
          <a:prstGeom prst="rect">
            <a:avLst/>
          </a:prstGeom>
          <a:solidFill>
            <a:srgbClr val="E67E22"/>
          </a:solidFill>
        </p:spPr>
        <p:txBody>
          <a:bodyPr wrap="square" tIns="38100" bIns="38100" lIns="1016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Threats  (6 items)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79392"/>
            <a:ext cx="5577840" cy="2350008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txBody>
          <a:bodyPr wrap="square" tIns="76200" lIns="101600" rIns="76200" anchor="t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Intensifying Online Competition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Online programs from large universities erode FLC's geographic advantage. Porter's rates Competitive Rivalry at 4.5/5 and Threat of Substitutes at 3.5/5.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Porter's Five Forces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State Funding Volatility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Colorado state appropriations per student are declining. Performance-based funding models create additional uncertainty for smaller institutions.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PESTLE (Political/Economic)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Declining College-Going Rates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National college-going rates are declining, particularly affecting small public liberal arts institutions. Colorado first-year student pipeline down -7.6% for FLC in 2025.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PESTLE (Social), Enrollment Overview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Student Price Sensitivity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Porter's rates Bargaining Power of Students at 4.0/5 (High). Rising tuition sensitivity, student debt concerns, and increasing discount rate pressure threaten net revenue.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Porter's Five Forces, PESTLE (Economic)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Alternative Credential Growth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Micro-credentials, boot camps, and certificate programs are growing rapidly. Employers increasingly accept alternative credentials, threatening traditional 4-year degree demand.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Porter's Five Forces (Substitutes)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3057"/>
                </a:solidFill>
              </a:rPr>
              <a:t>• Political Pressure on DEI &amp; Public Higher 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>
                <a:solidFill>
                  <a:srgbClr val="333333"/>
                </a:solidFill>
              </a:rPr>
              <a:t>   Political landscape creates uncertainty for diversity programs, public institution funding, and federal financial aid policy (Pell Grant, Title IV).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50" i="1">
                <a:solidFill>
                  <a:srgbClr val="999999"/>
                </a:solidFill>
              </a:rPr>
              <a:t>   Source: PESTLE (Political)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