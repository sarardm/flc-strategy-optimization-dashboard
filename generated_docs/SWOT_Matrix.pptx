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3057"/>
                </a:solidFill>
              </a:rPr>
              <a:t>SWOT Analysis — Internal Factors</a:t>
            </a:r>
          </a:p>
          <a:p>
            <a:pPr algn="l"/>
            <a:r>
              <a:rPr sz="1100">
                <a:solidFill>
                  <a:srgbClr val="666666"/>
                </a:solidFill>
              </a:rPr>
              <a:t>Fort Lewis College | Durango, Colorado | Cross-Framework Strategic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5577840" cy="347472"/>
          </a:xfrm>
          <a:prstGeom prst="rect">
            <a:avLst/>
          </a:prstGeom>
          <a:solidFill>
            <a:srgbClr val="2ECC71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Strengths  (7 items)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Statutory Native American Mission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Federal-state-tribal obligation (CRS 23-52-105, since 1911) to serve Native American students with tuition waiver. Serves 166 tribes; 37% of students receive waiver. This is a values-driven commitment, not a market instrument.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(Political/Legal),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Strong Star Programs (Major-Level BCG)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Business Administration (+10%, 325 enrolled), Exercise Physiology (+17%, 160), Environmental Conservation &amp; Mgmt (+62%, 133), and Biochemistry (+35%, 66) lead with both size and growth.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BCG Matrix (48-major analysis), Gray Associates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Place-Based Brand &amp; Outdoor Differentiation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Durango's mountain setting and outdoor lifestyle create a recruitment differentiator that online competitors cannot replicate. FLC serves experience-preferring students, a distinct market segment.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Forces, PESTLE (Social/Environmental)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Small Class Sizes &amp; Teaching Focus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Average class size of 19, 15:1 student-faculty ratio. 98% of tenure-track faculty hold terminal degrees (note: terminal degree % is a common proxy but does not directly measure teaching effectiveness).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Growing Graduate Program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Graduate enrollment grew from 10 (2016) to 160 (Fall 2025). However, FLC has only ONE graduate program — further expansion requires 1–2+ years shared governance, accreditation, and significant startup investment.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Budget Constraints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Strong Employment-Aligned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Engineering (92), CIS (90), Business Admin (85), and Health Sciences (85) score highest on Gray Associates employment outlook. Healthcare and STEM fields show strongest regional job demand.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Gray Associates, PESTLE (Economic)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NATW Legal Foundation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The Native American Tuition Waiver has a distinct legal basis (CRS 23-52-105, 1911 federal-state contract) separate from voluntary DEI programs. This is defensible under current Title VI scrutiny.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(Legal), Context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51560"/>
            <a:ext cx="5577840" cy="347472"/>
          </a:xfrm>
          <a:prstGeom prst="rect">
            <a:avLst/>
          </a:prstGeom>
          <a:solidFill>
            <a:srgbClr val="E74C3C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Weaknesses  (7 items)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Declining Undergraduate Enrollment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UG degree-seeking enrollment fell from 3,498 (2016) to 3,021 (2025), -13.6% over 10 years. Major-level data shows overall -3.1% decline (2,899→2,810) from 2022–2024.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BCG Matrix (48-major analysis)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17 Concern-Quadrant Majors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BCG analysis shows 17 of 48 majors in the Concern quadrant (small &amp; declining). Economics (-76%, 9 enrolled), MND Art &amp; Design (-98%, 3), and Public Health (-57%, 37) face critical enrollment declines.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BCG Matrix (48-major analysis)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Retention Below National Average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66.1% FTFT retention vs. ~73% national average. Equity gaps persist: First-Gen 60.9%, Pell 61.7%, Students of Color 62.6%.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PESTLE (Social)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Durango Housing Crisis &amp; Faculty Recruitment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Durango cost of living is a hidden barrier for both students (attendance) and faculty (recruitment). National faculty supply is HIGH in most fields — the real issue is FLC's location + salary competitiveness.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Forces, PESTLE (Economic)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Faculty Footprint Disproportionate to Enrollment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Number of programs and faculty positions are disproportionately large relative to student enrollment. Faculty governance resistance expected for any consolidation.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Priorities, SWOT Context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No Online Brand or Infrastructure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Only ~25 online courses (~10% of offerings). Online market is SATURATED (ASU, SNHU, WGU spend $50M+ on marketing). FLC has no online brand nationally and cannot compete on price with scale players.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(Technological), Porter's Five Forces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Tuition Waiver Revenue Impact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~37% of students at zero tuition via NATW creates dependency on state appropriations. With state funding declining, this structural gap widens.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(Economic/Political), Budget Constraints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2860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03057"/>
                </a:solidFill>
              </a:rPr>
              <a:t>SWOT Analysis — External Factors</a:t>
            </a:r>
          </a:p>
          <a:p>
            <a:pPr algn="l"/>
            <a:r>
              <a:rPr sz="1100">
                <a:solidFill>
                  <a:srgbClr val="666666"/>
                </a:solidFill>
              </a:rPr>
              <a:t>Fort Lewis College | Durango, Colorado | Cross-Framework Strategic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1051560"/>
            <a:ext cx="5577840" cy="347472"/>
          </a:xfrm>
          <a:prstGeom prst="rect">
            <a:avLst/>
          </a:prstGeom>
          <a:solidFill>
            <a:srgbClr val="3498DB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Opportunities  (7 items)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Invest in Star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BCG Star programs (Business Admin, Exercise Physiology, Env Conservation, Biochemistry, Engineering, etc.) show enrollment growth. Gray Associates classifies 7 programs for GROW status with strong employment alignment.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BCG Matrix, Gray Associates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Indigenous Education Leadership (Statutorily Grounded)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Serving 166 tribes with 37% waiver enrollment is a genuine national distinction. Must be framed through statutory obligations (CRS 23-52-105), cultural preservation, and sovereign agreements — not DEI language — to remain viable in current political climate. Reconciles with DEI threat below.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(Social/Legal), SWOT Context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Dual Enrollment Pipeline Growth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Dual enrollment grew 4.5x (52→235) since 2016. 27 converted to degree-seeking in Fall 2025. Partnerships with Pueblo CC, San Juan College, Red Rocks CC are viable low-risk growth channels.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Institutional Data, Enrollment Overview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AI Institute &amp; Technology Integration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FLC's AI Institute is an emerging strength. AI-enabled advising, retention prediction, and curriculum integration can attract new students. Requires realistic investment assessment.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(Technological),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Healthcare &amp; Workforce Programs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Healthcare sector showing strongest regional job growth. Health Sciences (+69%, 86 enrolled) is a BCG Star. Nursing, allied health, and behavioral health have strong employer demand in SW Colorado.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(Economic), Gray Associates, BCG Matrix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First-Generation Student Success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43% first-gen population is a safe, non-identity-based framing that encompasses many Indigenous students. First-gen support programs are politically viable and address a real retention gap (60.9% vs 66.1%).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(Social/Political), Institutional Data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Graduate Certificate Development (Long-Term)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Graduate enrollment growth (10→160) shows capacity, but expansion requires defensible niche (e.g., tribal governance, outdoor education leadership). Generic MBA/MEd markets are saturated. Timeline: 2–3+ years.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Budget Constraints, SWOT Context, PESTLE (Technological)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051560"/>
            <a:ext cx="5577840" cy="347472"/>
          </a:xfrm>
          <a:prstGeom prst="rect">
            <a:avLst/>
          </a:prstGeom>
          <a:solidFill>
            <a:srgbClr val="E67E22"/>
          </a:solidFill>
        </p:spPr>
        <p:txBody>
          <a:bodyPr wrap="square" tIns="38100" bIns="38100" lIns="10160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Threats  (7 items)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99031"/>
            <a:ext cx="5577840" cy="5093208"/>
          </a:xfrm>
          <a:prstGeom prst="rect">
            <a:avLst/>
          </a:prstGeom>
          <a:solidFill>
            <a:srgbClr val="FAFAFA"/>
          </a:solidFill>
          <a:ln w="6350">
            <a:solidFill>
              <a:srgbClr val="E0E0E0"/>
            </a:solidFill>
          </a:ln>
        </p:spPr>
        <p:txBody>
          <a:bodyPr wrap="square" tIns="76200" lIns="101600" rIns="76200" anchor="t">
            <a:spAutoFit/>
          </a:bodyPr>
          <a:lstStyle/>
          <a:p>
            <a:pPr>
              <a:spcBef>
                <a:spcPts val="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DEI &amp; Federal Scrutiny of Public Higher 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120 TRIO programs terminated; 50+ universities under Title VI investigation. Programs framed as 'equity-focused' are primary targets. FLC's NATW is legally defensible (statutory basis) but could be misclassified as DEI. Reconcile: Indigenous programs must use statutory/sovereign framing.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(Political/Legal)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Tribal Education Funding Volatility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Federal tribal education funding is VOLATILE: 109% increase Sept 2025, but FY2026 budget proposes 24% cuts. State appropriations also falling short ($38.4M vs $95M requested).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(Political/Economic)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Declining College-Going Rates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National and Colorado college-going rates declining. Growing skepticism about ROI of degrees. FLC first-year pipeline down -7.6% in 2025. Small public liberal arts institutions most affected.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(Social), Enrollment Overview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Durango Housing Crisis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Dramatic cost increases affect student attendance and faculty recruitment. This is a hidden barrier that compounds enrollment decline and makes salary offers less competitive.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(Economic), Porter's Five Forces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Alternative Credentials Eroding Degree Value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Micro-credentials, boot camps, and certificates growing rapidly. Skills-based hiring means degrees are less of an automatic requirement. FLC's liberal arts value proposition harder to sell without career framing.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Porter's Five Forces (Substitutes), PESTLE (Economic)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Climate Vulnerability of Outdoor Brand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Southwest Colorado wildfire risk increasing, drought stressing Colorado River basin, snowpack variability affecting ski/rafting economy. FLC's outdoor brand is a strength but climate-vulnerable.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PESTLE (Environmental)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 b="1">
                <a:solidFill>
                  <a:srgbClr val="003057"/>
                </a:solidFill>
              </a:rPr>
              <a:t>• Shared Governance Constraints on Speed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750">
                <a:solidFill>
                  <a:srgbClr val="333333"/>
                </a:solidFill>
              </a:rPr>
              <a:t>   Faculty governance takes 1–2+ years for program changes. Conservative Board risk tolerance. Any restructuring or new program requires significant political capital and patience.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650" i="1">
                <a:solidFill>
                  <a:srgbClr val="999999"/>
                </a:solidFill>
              </a:rPr>
              <a:t>   Source: SWOT Context, Institutional Priorities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